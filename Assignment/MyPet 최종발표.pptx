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24384000" cy="13716000"/>
  <p:notesSz cx="6858000" cy="9144000"/>
  <p:embeddedFontLst>
    <p:embeddedFont>
      <p:font typeface="Pretendard Regular"/>
      <p:regular r:id="rId27"/>
    </p:embeddedFont>
    <p:embeddedFont>
      <p:font typeface="NanumGothic"/>
      <p:regular r:id="rId28"/>
    </p:embeddedFont>
    <p:embeddedFont>
      <p:font typeface="Pretendard Light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1.fntdata" Type="http://schemas.openxmlformats.org/officeDocument/2006/relationships/font"/><Relationship Id="rId28" Target="fonts/font2.fntdata" Type="http://schemas.openxmlformats.org/officeDocument/2006/relationships/font"/><Relationship Id="rId29" Target="fonts/font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12" Target="../media/image19.png" Type="http://schemas.openxmlformats.org/officeDocument/2006/relationships/image"/><Relationship Id="rId13" Target="../media/image20.png" Type="http://schemas.openxmlformats.org/officeDocument/2006/relationships/image"/><Relationship Id="rId14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12" Target="../media/image40.png" Type="http://schemas.openxmlformats.org/officeDocument/2006/relationships/image"/><Relationship Id="rId13" Target="../media/image41.png" Type="http://schemas.openxmlformats.org/officeDocument/2006/relationships/image"/><Relationship Id="rId14" Target="../media/image42.png" Type="http://schemas.openxmlformats.org/officeDocument/2006/relationships/image"/><Relationship Id="rId15" Target="../media/image43.png" Type="http://schemas.openxmlformats.org/officeDocument/2006/relationships/image"/><Relationship Id="rId16" Target="../media/image44.png" Type="http://schemas.openxmlformats.org/officeDocument/2006/relationships/image"/><Relationship Id="rId17" Target="../media/image45.png" Type="http://schemas.openxmlformats.org/officeDocument/2006/relationships/image"/><Relationship Id="rId18" Target="../media/image46.png" Type="http://schemas.openxmlformats.org/officeDocument/2006/relationships/image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pn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pn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png" Type="http://schemas.openxmlformats.org/officeDocument/2006/relationships/image"/><Relationship Id="rId4" Target="../media/image59.png" Type="http://schemas.openxmlformats.org/officeDocument/2006/relationships/image"/><Relationship Id="rId5" Target="../media/image60.png" Type="http://schemas.openxmlformats.org/officeDocument/2006/relationships/image"/><Relationship Id="rId6" Target="../media/image6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2.png" Type="http://schemas.openxmlformats.org/officeDocument/2006/relationships/image"/><Relationship Id="rId4" Target="../media/image63.png" Type="http://schemas.openxmlformats.org/officeDocument/2006/relationships/image"/><Relationship Id="rId5" Target="../media/image64.png" Type="http://schemas.openxmlformats.org/officeDocument/2006/relationships/image"/><Relationship Id="rId6" Target="../media/image6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6.png" Type="http://schemas.openxmlformats.org/officeDocument/2006/relationships/image"/><Relationship Id="rId4" Target="../media/image6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2.png" Type="http://schemas.openxmlformats.org/officeDocument/2006/relationships/image"/><Relationship Id="rId4" Target="../media/image68.png" Type="http://schemas.openxmlformats.org/officeDocument/2006/relationships/image"/><Relationship Id="rId5" Target="../media/image69.png" Type="http://schemas.openxmlformats.org/officeDocument/2006/relationships/image"/><Relationship Id="rId6" Target="../media/image7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png" Type="http://schemas.openxmlformats.org/officeDocument/2006/relationships/image"/><Relationship Id="rId4" Target="../media/image71.png" Type="http://schemas.openxmlformats.org/officeDocument/2006/relationships/image"/><Relationship Id="rId5" Target="../media/image7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png" Type="http://schemas.openxmlformats.org/officeDocument/2006/relationships/image"/><Relationship Id="rId4" Target="../media/image73.png" Type="http://schemas.openxmlformats.org/officeDocument/2006/relationships/image"/><Relationship Id="rId5" Target="../media/image74.png" Type="http://schemas.openxmlformats.org/officeDocument/2006/relationships/image"/><Relationship Id="rId6" Target="../media/image7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2.png" Type="http://schemas.openxmlformats.org/officeDocument/2006/relationships/image"/><Relationship Id="rId4" Target="../media/image76.png" Type="http://schemas.openxmlformats.org/officeDocument/2006/relationships/image"/><Relationship Id="rId5" Target="../media/image77.png" Type="http://schemas.openxmlformats.org/officeDocument/2006/relationships/image"/><Relationship Id="rId6" Target="../media/image7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9.png" Type="http://schemas.openxmlformats.org/officeDocument/2006/relationships/image"/><Relationship Id="rId4" Target="../media/image8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1.png" Type="http://schemas.openxmlformats.org/officeDocument/2006/relationships/image"/><Relationship Id="rId4" Target="../media/image82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3.png" Type="http://schemas.openxmlformats.org/officeDocument/2006/relationships/image"/><Relationship Id="rId4" Target="../media/image84.png" Type="http://schemas.openxmlformats.org/officeDocument/2006/relationships/image"/><Relationship Id="rId5" Target="../media/image85.png" Type="http://schemas.openxmlformats.org/officeDocument/2006/relationships/image"/><Relationship Id="rId6" Target="../media/image8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7D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520700"/>
            <a:ext cx="23495000" cy="126873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803400" y="3263900"/>
            <a:ext cx="17538700" cy="15875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ko-KR" sz="8999" b="false" i="false" u="none" strike="noStrike">
                <a:solidFill>
                  <a:srgbClr val="595959"/>
                </a:solidFill>
                <a:ea typeface="NanumGothic"/>
              </a:rPr>
              <a:t>반려인을</a:t>
            </a:r>
            <a:r>
              <a:rPr lang="en-US" sz="8999" b="fals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8999" b="false" i="false" u="none" strike="noStrike">
                <a:solidFill>
                  <a:srgbClr val="595959"/>
                </a:solidFill>
                <a:ea typeface="NanumGothic"/>
              </a:rPr>
              <a:t>위한</a:t>
            </a:r>
            <a:r>
              <a:rPr lang="en-US" sz="8999" b="fals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8999" b="false" i="false" u="none" strike="noStrike">
                <a:solidFill>
                  <a:srgbClr val="595959"/>
                </a:solidFill>
                <a:ea typeface="NanumGothic"/>
              </a:rPr>
              <a:t>참여형</a:t>
            </a:r>
            <a:r>
              <a:rPr lang="en-US" sz="8999" b="fals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8999" b="false" i="false" u="none" strike="noStrike">
                <a:solidFill>
                  <a:srgbClr val="595959"/>
                </a:solidFill>
                <a:ea typeface="NanumGothic"/>
              </a:rPr>
              <a:t>소셜</a:t>
            </a:r>
            <a:r>
              <a:rPr lang="en-US" sz="8999" b="fals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8999" b="false" i="false" u="none" strike="noStrike">
                <a:solidFill>
                  <a:srgbClr val="595959"/>
                </a:solidFill>
                <a:ea typeface="NanumGothic"/>
              </a:rPr>
              <a:t>플랫폼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16100" y="4851400"/>
            <a:ext cx="7531100" cy="26543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16199"/>
              </a:lnSpc>
            </a:pPr>
            <a:r>
              <a:rPr lang="en" sz="14999" b="true" i="false" u="none" strike="noStrike">
                <a:solidFill>
                  <a:srgbClr val="595959"/>
                </a:solidFill>
                <a:latin typeface="NanumGothic"/>
              </a:rPr>
              <a:t>My Pet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03400" y="10769600"/>
            <a:ext cx="20345400" cy="14732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7564100" y="1397000"/>
            <a:ext cx="4572000" cy="266700"/>
          </a:xfrm>
          <a:prstGeom prst="rect">
            <a:avLst/>
          </a:prstGeom>
        </p:spPr>
        <p:txBody>
          <a:bodyPr anchor="ctr" rtlCol="false"/>
          <a:lstStyle/>
          <a:p>
            <a:pPr algn="r" lvl="0">
              <a:lnSpc>
                <a:spcPct val="124499"/>
              </a:lnSpc>
            </a:pPr>
            <a:r>
              <a:rPr lang="en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My Pet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16100" y="1384300"/>
            <a:ext cx="6096000" cy="2794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2025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오픈소스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개발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프로젝트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 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08200" y="11303000"/>
            <a:ext cx="6743700" cy="469900"/>
          </a:xfrm>
          <a:prstGeom prst="rect">
            <a:avLst/>
          </a:prstGeom>
        </p:spPr>
        <p:txBody>
          <a:bodyPr anchor="ctr" rtlCol="false" lIns="0" tIns="15239" rIns="0" bIns="15239"/>
          <a:lstStyle/>
          <a:p>
            <a:pPr algn="r" lvl="0">
              <a:lnSpc>
                <a:spcPct val="107899"/>
              </a:lnSpc>
            </a:pPr>
            <a:r>
              <a:rPr lang="en" sz="2399" b="false" i="false" u="none" strike="noStrike">
                <a:solidFill>
                  <a:srgbClr val="595959"/>
                </a:solidFill>
                <a:latin typeface="Pretendard Regular"/>
              </a:rPr>
              <a:t>2025. 12.15. 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54300" y="11201400"/>
            <a:ext cx="5181600" cy="6223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l" lvl="0">
              <a:lnSpc>
                <a:spcPct val="99600"/>
              </a:lnSpc>
            </a:pPr>
            <a:r>
              <a:rPr lang="en-US" sz="2933" b="true" i="false" u="none" strike="noStrike">
                <a:solidFill>
                  <a:srgbClr val="595959"/>
                </a:solidFill>
                <a:latin typeface="NanumGothic"/>
              </a:rPr>
              <a:t>2</a:t>
            </a:r>
            <a:r>
              <a:rPr lang="ko-KR" sz="2933" b="true" i="false" u="none" strike="noStrike">
                <a:solidFill>
                  <a:srgbClr val="595959"/>
                </a:solidFill>
                <a:ea typeface="NanumGothic"/>
              </a:rPr>
              <a:t>조</a:t>
            </a:r>
            <a:r>
              <a:rPr lang="en-US" sz="2933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933" b="true" i="false" u="none" strike="noStrike">
                <a:solidFill>
                  <a:srgbClr val="595959"/>
                </a:solidFill>
                <a:ea typeface="NanumGothic"/>
              </a:rPr>
              <a:t>이충희</a:t>
            </a:r>
            <a:r>
              <a:rPr lang="en-US" sz="2933" b="true" i="false" u="none" strike="noStrike">
                <a:solidFill>
                  <a:srgbClr val="595959"/>
                </a:solidFill>
                <a:latin typeface="NanumGothic"/>
              </a:rPr>
              <a:t>, </a:t>
            </a:r>
            <a:r>
              <a:rPr lang="ko-KR" sz="2933" b="true" i="false" u="none" strike="noStrike">
                <a:solidFill>
                  <a:srgbClr val="595959"/>
                </a:solidFill>
                <a:ea typeface="NanumGothic"/>
              </a:rPr>
              <a:t>손승혜</a:t>
            </a:r>
            <a:r>
              <a:rPr lang="en-US" sz="2933" b="true" i="false" u="none" strike="noStrike">
                <a:solidFill>
                  <a:srgbClr val="595959"/>
                </a:solidFill>
                <a:latin typeface="NanumGothic"/>
              </a:rPr>
              <a:t>, </a:t>
            </a:r>
            <a:r>
              <a:rPr lang="ko-KR" sz="2933" b="true" i="false" u="none" strike="noStrike">
                <a:solidFill>
                  <a:srgbClr val="595959"/>
                </a:solidFill>
                <a:ea typeface="NanumGothic"/>
              </a:rPr>
              <a:t>김기은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293100" y="5334000"/>
            <a:ext cx="1892300" cy="1892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819531">
            <a:off x="9690100" y="6413500"/>
            <a:ext cx="9906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7D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520700"/>
            <a:ext cx="23495000" cy="1268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864100" y="8445500"/>
            <a:ext cx="7480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714500" y="8420100"/>
            <a:ext cx="20523200" cy="38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499600" y="5283200"/>
            <a:ext cx="5346700" cy="1320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223500" y="5499100"/>
            <a:ext cx="1485900" cy="8763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l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01400" y="5651500"/>
            <a:ext cx="3200400" cy="558800"/>
          </a:xfrm>
          <a:prstGeom prst="rect">
            <a:avLst/>
          </a:prstGeom>
        </p:spPr>
        <p:txBody>
          <a:bodyPr anchor="ctr" rtlCol="false" lIns="0" tIns="33866" rIns="0" bIns="33866"/>
          <a:lstStyle/>
          <a:p>
            <a:pPr algn="l" lvl="0">
              <a:lnSpc>
                <a:spcPct val="99600"/>
              </a:lnSpc>
            </a:pPr>
            <a:r>
              <a:rPr lang="ko-KR" sz="2666" b="true" i="false" u="none" strike="noStrike">
                <a:solidFill>
                  <a:srgbClr val="595959"/>
                </a:solidFill>
                <a:ea typeface="NanumGothic"/>
              </a:rPr>
              <a:t>유사</a:t>
            </a:r>
            <a:r>
              <a:rPr lang="en-US" sz="26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666" b="true" i="false" u="none" strike="noStrike">
                <a:solidFill>
                  <a:srgbClr val="595959"/>
                </a:solidFill>
                <a:ea typeface="NanumGothic"/>
              </a:rPr>
              <a:t>프로그램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2039600" y="8445500"/>
            <a:ext cx="7480300" cy="381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9499600" y="7061200"/>
            <a:ext cx="6057900" cy="800100"/>
          </a:xfrm>
          <a:prstGeom prst="rect">
            <a:avLst/>
          </a:prstGeom>
        </p:spPr>
        <p:txBody>
          <a:bodyPr anchor="ctr" rtlCol="false"/>
          <a:lstStyle/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레퍼런스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삼은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 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관련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서비스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소개</a:t>
            </a:r>
          </a:p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My Pet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만의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차별성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499600" y="9207500"/>
            <a:ext cx="5346700" cy="13208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0223500" y="9410700"/>
            <a:ext cx="1485900" cy="8763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l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01400" y="9563100"/>
            <a:ext cx="3187700" cy="571500"/>
          </a:xfrm>
          <a:prstGeom prst="rect">
            <a:avLst/>
          </a:prstGeom>
        </p:spPr>
        <p:txBody>
          <a:bodyPr anchor="ctr" rtlCol="false" lIns="0" tIns="33866" rIns="0" bIns="33866"/>
          <a:lstStyle/>
          <a:p>
            <a:pPr algn="l" lvl="0">
              <a:lnSpc>
                <a:spcPct val="99600"/>
              </a:lnSpc>
            </a:pPr>
            <a:r>
              <a:rPr lang="ko-KR" sz="2666" b="true" i="false" u="none" strike="noStrike">
                <a:solidFill>
                  <a:srgbClr val="595959"/>
                </a:solidFill>
                <a:ea typeface="NanumGothic"/>
              </a:rPr>
              <a:t>프로젝트</a:t>
            </a:r>
            <a:r>
              <a:rPr lang="en-US" sz="26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666" b="true" i="false" u="none" strike="noStrike">
                <a:solidFill>
                  <a:srgbClr val="595959"/>
                </a:solidFill>
                <a:ea typeface="NanumGothic"/>
              </a:rPr>
              <a:t>주요기능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99600" y="10998200"/>
            <a:ext cx="5600700" cy="812800"/>
          </a:xfrm>
          <a:prstGeom prst="rect">
            <a:avLst/>
          </a:prstGeom>
        </p:spPr>
        <p:txBody>
          <a:bodyPr anchor="ctr" rtlCol="false"/>
          <a:lstStyle/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시연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영상</a:t>
            </a:r>
          </a:p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주요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기능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실행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화면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 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637000" y="5283200"/>
            <a:ext cx="5346700" cy="13208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7360900" y="5499100"/>
            <a:ext cx="1485900" cy="8763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l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338800" y="5651500"/>
            <a:ext cx="3187700" cy="571500"/>
          </a:xfrm>
          <a:prstGeom prst="rect">
            <a:avLst/>
          </a:prstGeom>
        </p:spPr>
        <p:txBody>
          <a:bodyPr anchor="ctr" rtlCol="false" lIns="0" tIns="33866" rIns="0" bIns="33866"/>
          <a:lstStyle/>
          <a:p>
            <a:pPr algn="l" lvl="0">
              <a:lnSpc>
                <a:spcPct val="99600"/>
              </a:lnSpc>
            </a:pPr>
            <a:r>
              <a:rPr lang="en" sz="2666" b="true" i="false" u="none" strike="noStrike">
                <a:solidFill>
                  <a:srgbClr val="595959"/>
                </a:solidFill>
                <a:ea typeface="NanumGothic"/>
              </a:rPr>
              <a:t>개발환경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637000" y="7035800"/>
            <a:ext cx="5880100" cy="876300"/>
          </a:xfrm>
          <a:prstGeom prst="rect">
            <a:avLst/>
          </a:prstGeom>
        </p:spPr>
        <p:txBody>
          <a:bodyPr anchor="ctr" rtlCol="false"/>
          <a:lstStyle/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주요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개발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도구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및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기술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스택</a:t>
            </a:r>
          </a:p>
          <a:p>
            <a:pPr algn="l" lvl="0">
              <a:lnSpc>
                <a:spcPct val="132800"/>
              </a:lnSpc>
            </a:pPr>
            <a:r>
              <a:rPr lang="en" sz="2333" b="false" i="false" u="none" strike="noStrike">
                <a:solidFill>
                  <a:srgbClr val="595959"/>
                </a:solidFill>
                <a:latin typeface="Pretendard Light"/>
              </a:rPr>
              <a:t/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37000" y="9207500"/>
            <a:ext cx="5346700" cy="13208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7360900" y="9410700"/>
            <a:ext cx="1485900" cy="8763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l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338800" y="9563100"/>
            <a:ext cx="3187700" cy="571500"/>
          </a:xfrm>
          <a:prstGeom prst="rect">
            <a:avLst/>
          </a:prstGeom>
        </p:spPr>
        <p:txBody>
          <a:bodyPr anchor="ctr" rtlCol="false" lIns="0" tIns="33866" rIns="0" bIns="33866"/>
          <a:lstStyle/>
          <a:p>
            <a:pPr algn="l" lvl="0">
              <a:lnSpc>
                <a:spcPct val="99600"/>
              </a:lnSpc>
            </a:pPr>
            <a:r>
              <a:rPr lang="ko-KR" sz="2666" b="true" i="false" u="none" strike="noStrike">
                <a:solidFill>
                  <a:srgbClr val="595959"/>
                </a:solidFill>
                <a:ea typeface="NanumGothic"/>
              </a:rPr>
              <a:t>기대효과</a:t>
            </a:r>
            <a:r>
              <a:rPr lang="en-US" sz="26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666" b="true" i="false" u="none" strike="noStrike">
                <a:solidFill>
                  <a:srgbClr val="595959"/>
                </a:solidFill>
                <a:ea typeface="NanumGothic"/>
              </a:rPr>
              <a:t>및</a:t>
            </a:r>
            <a:r>
              <a:rPr lang="en-US" sz="26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666" b="true" i="false" u="none" strike="noStrike">
                <a:solidFill>
                  <a:srgbClr val="595959"/>
                </a:solidFill>
                <a:ea typeface="NanumGothic"/>
              </a:rPr>
              <a:t>활용분야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637000" y="10985500"/>
            <a:ext cx="5880100" cy="812800"/>
          </a:xfrm>
          <a:prstGeom prst="rect">
            <a:avLst/>
          </a:prstGeom>
        </p:spPr>
        <p:txBody>
          <a:bodyPr anchor="ctr" rtlCol="false"/>
          <a:lstStyle/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" sz="2333" b="false" i="false" u="none" strike="noStrike">
                <a:solidFill>
                  <a:srgbClr val="595959"/>
                </a:solidFill>
                <a:ea typeface="Pretendard Light"/>
              </a:rPr>
              <a:t>혁신성</a:t>
            </a:r>
          </a:p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향후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개선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방향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324100" y="5283200"/>
            <a:ext cx="5346700" cy="13208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3048000" y="5499100"/>
            <a:ext cx="1485900" cy="8763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l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025900" y="5651500"/>
            <a:ext cx="3213100" cy="571500"/>
          </a:xfrm>
          <a:prstGeom prst="rect">
            <a:avLst/>
          </a:prstGeom>
        </p:spPr>
        <p:txBody>
          <a:bodyPr anchor="ctr" rtlCol="false" lIns="0" tIns="33866" rIns="0" bIns="33866"/>
          <a:lstStyle/>
          <a:p>
            <a:pPr algn="l" lvl="0">
              <a:lnSpc>
                <a:spcPct val="99600"/>
              </a:lnSpc>
            </a:pPr>
            <a:r>
              <a:rPr lang="en-US" sz="2666" b="true" i="false" u="none" strike="noStrike">
                <a:solidFill>
                  <a:srgbClr val="595959"/>
                </a:solidFill>
                <a:latin typeface="NanumGothic"/>
              </a:rPr>
              <a:t>My Pet </a:t>
            </a:r>
            <a:r>
              <a:rPr lang="ko-KR" sz="2666" b="true" i="false" u="none" strike="noStrike">
                <a:solidFill>
                  <a:srgbClr val="595959"/>
                </a:solidFill>
                <a:ea typeface="NanumGothic"/>
              </a:rPr>
              <a:t>소개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24100" y="7061200"/>
            <a:ext cx="5880100" cy="812800"/>
          </a:xfrm>
          <a:prstGeom prst="rect">
            <a:avLst/>
          </a:prstGeom>
        </p:spPr>
        <p:txBody>
          <a:bodyPr anchor="ctr" rtlCol="false"/>
          <a:lstStyle/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프로젝트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소개</a:t>
            </a:r>
          </a:p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개발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배경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및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목적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324100" y="9207500"/>
            <a:ext cx="5346700" cy="13208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3048000" y="9410700"/>
            <a:ext cx="1485900" cy="8763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l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025900" y="9359900"/>
            <a:ext cx="3187700" cy="977900"/>
          </a:xfrm>
          <a:prstGeom prst="rect">
            <a:avLst/>
          </a:prstGeom>
        </p:spPr>
        <p:txBody>
          <a:bodyPr anchor="ctr" rtlCol="false" lIns="0" tIns="33866" rIns="0" bIns="33866"/>
          <a:lstStyle/>
          <a:p>
            <a:pPr algn="l" lvl="0">
              <a:lnSpc>
                <a:spcPct val="99600"/>
              </a:lnSpc>
            </a:pPr>
            <a:r>
              <a:rPr lang="ko-KR" sz="2666" b="true" i="false" u="none" strike="noStrike">
                <a:solidFill>
                  <a:srgbClr val="595959"/>
                </a:solidFill>
                <a:ea typeface="NanumGothic"/>
              </a:rPr>
              <a:t>시스템</a:t>
            </a:r>
            <a:r>
              <a:rPr lang="en-US" sz="26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666" b="true" i="false" u="none" strike="noStrike">
                <a:solidFill>
                  <a:srgbClr val="595959"/>
                </a:solidFill>
                <a:ea typeface="NanumGothic"/>
              </a:rPr>
              <a:t>구성</a:t>
            </a:r>
            <a:r>
              <a:rPr lang="en-US" sz="26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666" b="true" i="false" u="none" strike="noStrike">
                <a:solidFill>
                  <a:srgbClr val="595959"/>
                </a:solidFill>
                <a:ea typeface="NanumGothic"/>
              </a:rPr>
              <a:t>및</a:t>
            </a:r>
            <a:r>
              <a:rPr lang="en-US" sz="2666" b="true" i="false" u="none" strike="noStrike">
                <a:solidFill>
                  <a:srgbClr val="595959"/>
                </a:solidFill>
                <a:latin typeface="NanumGothic"/>
              </a:rPr>
              <a:t> </a:t>
            </a:r>
          </a:p>
          <a:p>
            <a:pPr algn="l" lvl="0">
              <a:lnSpc>
                <a:spcPct val="99600"/>
              </a:lnSpc>
            </a:pPr>
            <a:r>
              <a:rPr lang="en" sz="2666" b="true" i="false" u="none" strike="noStrike">
                <a:solidFill>
                  <a:srgbClr val="595959"/>
                </a:solidFill>
                <a:ea typeface="NanumGothic"/>
              </a:rPr>
              <a:t>아키텍쳐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24100" y="10985500"/>
            <a:ext cx="5880100" cy="800100"/>
          </a:xfrm>
          <a:prstGeom prst="rect">
            <a:avLst/>
          </a:prstGeom>
        </p:spPr>
        <p:txBody>
          <a:bodyPr anchor="ctr" rtlCol="false"/>
          <a:lstStyle/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전체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시스템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구조</a:t>
            </a:r>
          </a:p>
          <a:p>
            <a:pPr algn="l" lvl="1" indent="-342900" marL="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전체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흐름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시각적</a:t>
            </a:r>
            <a:r>
              <a:rPr lang="en-US" sz="2333" b="false" i="false" u="none" strike="noStrike">
                <a:solidFill>
                  <a:srgbClr val="595959"/>
                </a:solidFill>
                <a:latin typeface="Pretendard Light"/>
              </a:rPr>
              <a:t> </a:t>
            </a:r>
            <a:r>
              <a:rPr lang="ko-KR" sz="2333" b="false" i="false" u="none" strike="noStrike">
                <a:solidFill>
                  <a:srgbClr val="595959"/>
                </a:solidFill>
                <a:ea typeface="Pretendard Light"/>
              </a:rPr>
              <a:t>제시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071100" y="2273300"/>
            <a:ext cx="3810000" cy="1511300"/>
          </a:xfrm>
          <a:prstGeom prst="rect">
            <a:avLst/>
          </a:prstGeom>
        </p:spPr>
        <p:txBody>
          <a:bodyPr anchor="ctr" rtlCol="false" lIns="0" tIns="27114" rIns="0" bIns="27114"/>
          <a:lstStyle/>
          <a:p>
            <a:pPr algn="ctr" lvl="0">
              <a:lnSpc>
                <a:spcPct val="112050"/>
              </a:lnSpc>
            </a:pPr>
            <a:r>
              <a:rPr lang="en" sz="8540" b="true" i="false" u="none" strike="noStrike">
                <a:solidFill>
                  <a:srgbClr val="595959"/>
                </a:solidFill>
                <a:ea typeface="NanumGothic"/>
              </a:rPr>
              <a:t>목차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564100" y="1397000"/>
            <a:ext cx="4572000" cy="266700"/>
          </a:xfrm>
          <a:prstGeom prst="rect">
            <a:avLst/>
          </a:prstGeom>
        </p:spPr>
        <p:txBody>
          <a:bodyPr anchor="ctr" rtlCol="false"/>
          <a:lstStyle/>
          <a:p>
            <a:pPr algn="r" lvl="0">
              <a:lnSpc>
                <a:spcPct val="124499"/>
              </a:lnSpc>
            </a:pPr>
            <a:r>
              <a:rPr lang="en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My Pet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16100" y="1384300"/>
            <a:ext cx="6096000" cy="2794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2025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오픈소스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개발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프로젝트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7D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520700"/>
            <a:ext cx="23495000" cy="1268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608300" y="3568700"/>
            <a:ext cx="5562600" cy="1320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018000" y="8051800"/>
            <a:ext cx="5537200" cy="1320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-7200000">
            <a:off x="7581900" y="7035800"/>
            <a:ext cx="4622800" cy="4622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7200000">
            <a:off x="11404600" y="7035800"/>
            <a:ext cx="4622800" cy="4622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1800000">
            <a:off x="9537700" y="3733800"/>
            <a:ext cx="4622800" cy="4622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689100" y="2590800"/>
            <a:ext cx="9296400" cy="914400"/>
          </a:xfrm>
          <a:prstGeom prst="rect">
            <a:avLst/>
          </a:prstGeom>
        </p:spPr>
        <p:txBody>
          <a:bodyPr anchor="ctr" rtlCol="false" lIns="0" tIns="66039" rIns="0" bIns="66039"/>
          <a:lstStyle/>
          <a:p>
            <a:pPr algn="l" lvl="0">
              <a:lnSpc>
                <a:spcPct val="99600"/>
              </a:lnSpc>
            </a:pPr>
            <a:r>
              <a:rPr lang="en-US" sz="5199" b="true" i="false" u="none" strike="noStrike">
                <a:solidFill>
                  <a:srgbClr val="595959"/>
                </a:solidFill>
                <a:latin typeface="NanumGothic"/>
              </a:rPr>
              <a:t>My Pet </a:t>
            </a:r>
            <a:r>
              <a:rPr lang="ko-KR" sz="5199" b="true" i="false" u="none" strike="noStrike">
                <a:solidFill>
                  <a:srgbClr val="595959"/>
                </a:solidFill>
                <a:ea typeface="NanumGothic"/>
              </a:rPr>
              <a:t>프로젝트</a:t>
            </a:r>
            <a:r>
              <a:rPr lang="en-US" sz="5199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5199" b="true" i="false" u="none" strike="noStrike">
                <a:solidFill>
                  <a:srgbClr val="595959"/>
                </a:solidFill>
                <a:ea typeface="NanumGothic"/>
              </a:rPr>
              <a:t>소개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9100" y="3606800"/>
            <a:ext cx="7670800" cy="495300"/>
          </a:xfrm>
          <a:prstGeom prst="rect">
            <a:avLst/>
          </a:prstGeom>
        </p:spPr>
        <p:txBody>
          <a:bodyPr anchor="ctr" rtlCol="false" lIns="0" tIns="17779" rIns="0" bIns="17779"/>
          <a:lstStyle/>
          <a:p>
            <a:pPr algn="l" lvl="0">
              <a:lnSpc>
                <a:spcPct val="107899"/>
              </a:lnSpc>
            </a:pP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반려인들을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위한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맞춤형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소통공간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383000" y="3924300"/>
            <a:ext cx="4914900" cy="533400"/>
          </a:xfrm>
          <a:prstGeom prst="rect">
            <a:avLst/>
          </a:prstGeom>
        </p:spPr>
        <p:txBody>
          <a:bodyPr anchor="ctr" rtlCol="false" lIns="0" tIns="38946" rIns="0" bIns="38946"/>
          <a:lstStyle/>
          <a:p>
            <a:pPr algn="l" lvl="0">
              <a:lnSpc>
                <a:spcPct val="99600"/>
              </a:lnSpc>
            </a:pPr>
            <a:r>
              <a:rPr lang="ko-KR" sz="3066" b="true" i="false" u="none" strike="noStrike">
                <a:solidFill>
                  <a:srgbClr val="595959"/>
                </a:solidFill>
                <a:ea typeface="NanumGothic"/>
              </a:rPr>
              <a:t>다양한</a:t>
            </a:r>
            <a:r>
              <a:rPr lang="en-US" sz="30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066" b="true" i="false" u="none" strike="noStrike">
                <a:solidFill>
                  <a:srgbClr val="595959"/>
                </a:solidFill>
                <a:ea typeface="NanumGothic"/>
              </a:rPr>
              <a:t>편의</a:t>
            </a:r>
            <a:r>
              <a:rPr lang="en-US" sz="30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066" b="true" i="false" u="none" strike="noStrike">
                <a:solidFill>
                  <a:srgbClr val="595959"/>
                </a:solidFill>
                <a:ea typeface="NanumGothic"/>
              </a:rPr>
              <a:t>서비스</a:t>
            </a:r>
            <a:r>
              <a:rPr lang="en-US" sz="30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066" b="true" i="false" u="none" strike="noStrike">
                <a:solidFill>
                  <a:srgbClr val="595959"/>
                </a:solidFill>
                <a:ea typeface="NanumGothic"/>
              </a:rPr>
              <a:t>지원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595600" y="5461000"/>
            <a:ext cx="6642100" cy="1600200"/>
          </a:xfrm>
          <a:prstGeom prst="rect">
            <a:avLst/>
          </a:prstGeom>
        </p:spPr>
        <p:txBody>
          <a:bodyPr anchor="ctr" rtlCol="false"/>
          <a:lstStyle/>
          <a:p>
            <a:pPr algn="l" lvl="1" indent="-342900" marL="342900">
              <a:lnSpc>
                <a:spcPct val="145250"/>
              </a:lnSpc>
              <a:buClr>
                <a:srgbClr val="000000"/>
              </a:buClr>
              <a:buFont typeface="Arial"/>
              <a:buChar char="●"/>
            </a:pP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인근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동물병원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위치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제공</a:t>
            </a:r>
          </a:p>
          <a:p>
            <a:pPr algn="l" lvl="1" indent="-342900" marL="342900">
              <a:lnSpc>
                <a:spcPct val="145250"/>
              </a:lnSpc>
              <a:buClr>
                <a:srgbClr val="000000"/>
              </a:buClr>
              <a:buFont typeface="Arial"/>
              <a:buChar char="●"/>
            </a:pP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강아지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·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고양이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안질환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분석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&amp;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카카오톡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알림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서비스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640300" y="8407400"/>
            <a:ext cx="4914900" cy="533400"/>
          </a:xfrm>
          <a:prstGeom prst="rect">
            <a:avLst/>
          </a:prstGeom>
        </p:spPr>
        <p:txBody>
          <a:bodyPr anchor="ctr" rtlCol="false" lIns="0" tIns="38946" rIns="0" bIns="38946"/>
          <a:lstStyle/>
          <a:p>
            <a:pPr algn="l" lvl="0">
              <a:lnSpc>
                <a:spcPct val="99600"/>
              </a:lnSpc>
            </a:pPr>
            <a:r>
              <a:rPr lang="ko-KR" sz="3066" b="true" i="false" u="none" strike="noStrike">
                <a:solidFill>
                  <a:srgbClr val="595959"/>
                </a:solidFill>
                <a:ea typeface="NanumGothic"/>
              </a:rPr>
              <a:t>올바른</a:t>
            </a:r>
            <a:r>
              <a:rPr lang="en-US" sz="30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066" b="true" i="false" u="none" strike="noStrike">
                <a:solidFill>
                  <a:srgbClr val="595959"/>
                </a:solidFill>
                <a:ea typeface="NanumGothic"/>
              </a:rPr>
              <a:t>반려</a:t>
            </a:r>
            <a:r>
              <a:rPr lang="en-US" sz="30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066" b="true" i="false" u="none" strike="noStrike">
                <a:solidFill>
                  <a:srgbClr val="595959"/>
                </a:solidFill>
                <a:ea typeface="NanumGothic"/>
              </a:rPr>
              <a:t>문화의</a:t>
            </a:r>
            <a:r>
              <a:rPr lang="en-US" sz="30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066" b="true" i="false" u="none" strike="noStrike">
                <a:solidFill>
                  <a:srgbClr val="595959"/>
                </a:solidFill>
                <a:ea typeface="NanumGothic"/>
              </a:rPr>
              <a:t>확산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979900" y="9906000"/>
            <a:ext cx="5969000" cy="2171700"/>
          </a:xfrm>
          <a:prstGeom prst="rect">
            <a:avLst/>
          </a:prstGeom>
        </p:spPr>
        <p:txBody>
          <a:bodyPr anchor="ctr" rtlCol="false"/>
          <a:lstStyle/>
          <a:p>
            <a:pPr algn="l" lvl="1" indent="-342900" marL="342900">
              <a:lnSpc>
                <a:spcPct val="145250"/>
              </a:lnSpc>
              <a:buClr>
                <a:srgbClr val="000000"/>
              </a:buClr>
              <a:buFont typeface="Arial"/>
              <a:buChar char="●"/>
            </a:pP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유기동물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입양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정보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및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통합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조회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기능</a:t>
            </a:r>
          </a:p>
          <a:p>
            <a:pPr algn="l" lvl="1" indent="-342900" marL="342900">
              <a:lnSpc>
                <a:spcPct val="145250"/>
              </a:lnSpc>
              <a:buClr>
                <a:srgbClr val="000000"/>
              </a:buClr>
              <a:buFont typeface="Arial"/>
              <a:buChar char="●"/>
            </a:pP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다양한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정보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공유를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통한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건강한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반려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문화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증진</a:t>
            </a:r>
          </a:p>
          <a:p>
            <a:pPr algn="l" lvl="0">
              <a:lnSpc>
                <a:spcPct val="145250"/>
              </a:lnSpc>
            </a:pPr>
            <a:r>
              <a:rPr lang="en" sz="2599" b="false" i="false" u="none" strike="noStrike">
                <a:solidFill>
                  <a:srgbClr val="595959"/>
                </a:solidFill>
                <a:latin typeface="Pretendard Regular"/>
              </a:rPr>
              <a:t/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16100" y="8051800"/>
            <a:ext cx="3175000" cy="13208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2311400" y="8331200"/>
            <a:ext cx="3403600" cy="698500"/>
          </a:xfrm>
          <a:prstGeom prst="rect">
            <a:avLst/>
          </a:prstGeom>
        </p:spPr>
        <p:txBody>
          <a:bodyPr anchor="ctr" rtlCol="false" lIns="0" tIns="50799" rIns="0" bIns="50799"/>
          <a:lstStyle/>
          <a:p>
            <a:pPr algn="l" lvl="0">
              <a:lnSpc>
                <a:spcPct val="99600"/>
              </a:lnSpc>
            </a:pPr>
            <a:r>
              <a:rPr lang="ko-KR" sz="3999" b="true" i="false" u="none" strike="noStrike">
                <a:solidFill>
                  <a:srgbClr val="595959"/>
                </a:solidFill>
                <a:ea typeface="NanumGothic"/>
              </a:rPr>
              <a:t>키워드</a:t>
            </a:r>
            <a:r>
              <a:rPr lang="en-US" sz="3999" b="true" i="false" u="none" strike="noStrike">
                <a:solidFill>
                  <a:srgbClr val="595959"/>
                </a:solidFill>
                <a:latin typeface="NanumGothic"/>
              </a:rPr>
              <a:t> A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16100" y="8051800"/>
            <a:ext cx="4889500" cy="1320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277600" y="4394200"/>
            <a:ext cx="1168400" cy="1168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-10800000">
            <a:off x="10325100" y="5791200"/>
            <a:ext cx="3060700" cy="381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2590800" y="8445500"/>
            <a:ext cx="4927600" cy="533400"/>
          </a:xfrm>
          <a:prstGeom prst="rect">
            <a:avLst/>
          </a:prstGeom>
        </p:spPr>
        <p:txBody>
          <a:bodyPr anchor="ctr" rtlCol="false" lIns="0" tIns="38946" rIns="0" bIns="38946"/>
          <a:lstStyle/>
          <a:p>
            <a:pPr algn="l" lvl="0">
              <a:lnSpc>
                <a:spcPct val="99600"/>
              </a:lnSpc>
            </a:pPr>
            <a:r>
              <a:rPr lang="ko-KR" sz="3066" b="true" i="false" u="none" strike="noStrike">
                <a:solidFill>
                  <a:srgbClr val="595959"/>
                </a:solidFill>
                <a:ea typeface="NanumGothic"/>
              </a:rPr>
              <a:t>참여형</a:t>
            </a:r>
            <a:r>
              <a:rPr lang="en-US" sz="30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066" b="true" i="false" u="none" strike="noStrike">
                <a:solidFill>
                  <a:srgbClr val="595959"/>
                </a:solidFill>
                <a:ea typeface="NanumGothic"/>
              </a:rPr>
              <a:t>소셜</a:t>
            </a:r>
            <a:r>
              <a:rPr lang="en-US" sz="30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066" b="true" i="false" u="none" strike="noStrike">
                <a:solidFill>
                  <a:srgbClr val="595959"/>
                </a:solidFill>
                <a:ea typeface="NanumGothic"/>
              </a:rPr>
              <a:t>플랫폼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16100" y="9906000"/>
            <a:ext cx="5283200" cy="1028700"/>
          </a:xfrm>
          <a:prstGeom prst="rect">
            <a:avLst/>
          </a:prstGeom>
        </p:spPr>
        <p:txBody>
          <a:bodyPr anchor="ctr" rtlCol="false"/>
          <a:lstStyle/>
          <a:p>
            <a:pPr algn="l" lvl="1" indent="-342900" marL="342900">
              <a:lnSpc>
                <a:spcPct val="145250"/>
              </a:lnSpc>
              <a:buClr>
                <a:srgbClr val="000000"/>
              </a:buClr>
              <a:buFont typeface="Arial"/>
              <a:buChar char="●"/>
            </a:pP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반려동물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공유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및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포스팅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기능</a:t>
            </a:r>
          </a:p>
          <a:p>
            <a:pPr algn="l" lvl="1" indent="-342900" marL="342900">
              <a:lnSpc>
                <a:spcPct val="145250"/>
              </a:lnSpc>
              <a:buClr>
                <a:srgbClr val="000000"/>
              </a:buClr>
              <a:buFont typeface="Arial"/>
              <a:buChar char="●"/>
            </a:pP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실시간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채팅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및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산책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모임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구성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기능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74300" y="5816600"/>
            <a:ext cx="3238500" cy="1346200"/>
          </a:xfrm>
          <a:prstGeom prst="rect">
            <a:avLst/>
          </a:prstGeom>
        </p:spPr>
        <p:txBody>
          <a:bodyPr anchor="ctr" rtlCol="false" lIns="0" tIns="52492" rIns="0" bIns="52492"/>
          <a:lstStyle/>
          <a:p>
            <a:pPr algn="ctr" lvl="0">
              <a:lnSpc>
                <a:spcPct val="99600"/>
              </a:lnSpc>
            </a:pPr>
            <a:r>
              <a:rPr lang="ko-KR" sz="4133" b="true" i="false" u="none" strike="noStrike">
                <a:solidFill>
                  <a:srgbClr val="595959"/>
                </a:solidFill>
                <a:ea typeface="NanumGothic"/>
              </a:rPr>
              <a:t>다양한</a:t>
            </a:r>
            <a:r>
              <a:rPr lang="en-US" sz="4133" b="true" i="false" u="none" strike="noStrike">
                <a:solidFill>
                  <a:srgbClr val="595959"/>
                </a:solidFill>
                <a:latin typeface="NanumGothic"/>
              </a:rPr>
              <a:t> </a:t>
            </a:r>
          </a:p>
          <a:p>
            <a:pPr algn="ctr" lvl="0">
              <a:lnSpc>
                <a:spcPct val="99600"/>
              </a:lnSpc>
            </a:pPr>
            <a:r>
              <a:rPr lang="ko-KR" sz="4133" b="true" i="false" u="none" strike="noStrike">
                <a:solidFill>
                  <a:srgbClr val="595959"/>
                </a:solidFill>
                <a:ea typeface="NanumGothic"/>
              </a:rPr>
              <a:t>편의</a:t>
            </a:r>
            <a:r>
              <a:rPr lang="en-US" sz="4133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133" b="true" i="false" u="none" strike="noStrike">
                <a:solidFill>
                  <a:srgbClr val="595959"/>
                </a:solidFill>
                <a:ea typeface="NanumGothic"/>
              </a:rPr>
              <a:t>서비스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10800000">
            <a:off x="8166100" y="9537700"/>
            <a:ext cx="3060700" cy="381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8267700" y="9563100"/>
            <a:ext cx="3238500" cy="1346200"/>
          </a:xfrm>
          <a:prstGeom prst="rect">
            <a:avLst/>
          </a:prstGeom>
        </p:spPr>
        <p:txBody>
          <a:bodyPr anchor="ctr" rtlCol="false" lIns="0" tIns="52492" rIns="0" bIns="52492"/>
          <a:lstStyle/>
          <a:p>
            <a:pPr algn="ctr" lvl="0">
              <a:lnSpc>
                <a:spcPct val="99600"/>
              </a:lnSpc>
            </a:pPr>
            <a:r>
              <a:rPr lang="ko-KR" sz="4133" b="true" i="false" u="none" strike="noStrike">
                <a:solidFill>
                  <a:srgbClr val="595959"/>
                </a:solidFill>
                <a:ea typeface="NanumGothic"/>
              </a:rPr>
              <a:t>참여형</a:t>
            </a:r>
            <a:r>
              <a:rPr lang="en-US" sz="4133" b="true" i="false" u="none" strike="noStrike">
                <a:solidFill>
                  <a:srgbClr val="595959"/>
                </a:solidFill>
                <a:latin typeface="NanumGothic"/>
              </a:rPr>
              <a:t> </a:t>
            </a:r>
          </a:p>
          <a:p>
            <a:pPr algn="ctr" lvl="0">
              <a:lnSpc>
                <a:spcPct val="99600"/>
              </a:lnSpc>
            </a:pPr>
            <a:r>
              <a:rPr lang="ko-KR" sz="4133" b="true" i="false" u="none" strike="noStrike">
                <a:solidFill>
                  <a:srgbClr val="595959"/>
                </a:solidFill>
                <a:ea typeface="NanumGothic"/>
              </a:rPr>
              <a:t>소셜</a:t>
            </a:r>
            <a:r>
              <a:rPr lang="en-US" sz="4133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133" b="true" i="false" u="none" strike="noStrike">
                <a:solidFill>
                  <a:srgbClr val="595959"/>
                </a:solidFill>
                <a:ea typeface="NanumGothic"/>
              </a:rPr>
              <a:t>플랫폼</a:t>
            </a:r>
            <a:r>
              <a:rPr lang="en-US" sz="4133" b="true" i="false" u="none" strike="noStrike">
                <a:solidFill>
                  <a:srgbClr val="595959"/>
                </a:solidFill>
                <a:latin typeface="NanumGothic"/>
              </a:rPr>
              <a:t> 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10800000">
            <a:off x="12382500" y="9537700"/>
            <a:ext cx="3060700" cy="381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2230100" y="9563100"/>
            <a:ext cx="3238500" cy="1346200"/>
          </a:xfrm>
          <a:prstGeom prst="rect">
            <a:avLst/>
          </a:prstGeom>
        </p:spPr>
        <p:txBody>
          <a:bodyPr anchor="ctr" rtlCol="false" lIns="0" tIns="52492" rIns="0" bIns="52492"/>
          <a:lstStyle/>
          <a:p>
            <a:pPr algn="ctr" lvl="0">
              <a:lnSpc>
                <a:spcPct val="99600"/>
              </a:lnSpc>
            </a:pPr>
            <a:r>
              <a:rPr lang="en" sz="4133" b="true" i="false" u="none" strike="noStrike">
                <a:solidFill>
                  <a:srgbClr val="595959"/>
                </a:solidFill>
                <a:ea typeface="NanumGothic"/>
              </a:rPr>
              <a:t>올바른</a:t>
            </a:r>
          </a:p>
          <a:p>
            <a:pPr algn="ctr" lvl="0">
              <a:lnSpc>
                <a:spcPct val="99600"/>
              </a:lnSpc>
            </a:pPr>
            <a:r>
              <a:rPr lang="ko-KR" sz="4133" b="true" i="false" u="none" strike="noStrike">
                <a:solidFill>
                  <a:srgbClr val="595959"/>
                </a:solidFill>
                <a:ea typeface="NanumGothic"/>
              </a:rPr>
              <a:t>반려</a:t>
            </a:r>
            <a:r>
              <a:rPr lang="en-US" sz="4133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133" b="true" i="false" u="none" strike="noStrike">
                <a:solidFill>
                  <a:srgbClr val="595959"/>
                </a:solidFill>
                <a:ea typeface="NanumGothic"/>
              </a:rPr>
              <a:t>문화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118600" y="8166100"/>
            <a:ext cx="1168400" cy="1168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335000" y="8153400"/>
            <a:ext cx="1104900" cy="11049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7564100" y="1397000"/>
            <a:ext cx="4572000" cy="266700"/>
          </a:xfrm>
          <a:prstGeom prst="rect">
            <a:avLst/>
          </a:prstGeom>
        </p:spPr>
        <p:txBody>
          <a:bodyPr anchor="ctr" rtlCol="false"/>
          <a:lstStyle/>
          <a:p>
            <a:pPr algn="r" lvl="0">
              <a:lnSpc>
                <a:spcPct val="124499"/>
              </a:lnSpc>
            </a:pPr>
            <a:r>
              <a:rPr lang="en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My Pet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16100" y="1384300"/>
            <a:ext cx="6096000" cy="2794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2025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오픈소스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개발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프로젝트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7D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520700"/>
            <a:ext cx="23495000" cy="1268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22500" y="4800600"/>
            <a:ext cx="5003800" cy="7200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527300" y="5054600"/>
            <a:ext cx="1651000" cy="9652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5517" b="true" i="false" u="none" strike="noStrike">
                <a:solidFill>
                  <a:srgbClr val="595959"/>
                </a:solidFill>
                <a:latin typeface="NanumGothic"/>
              </a:rPr>
              <a:t>01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2755900" y="9017000"/>
            <a:ext cx="3924300" cy="381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743200" y="7556500"/>
            <a:ext cx="4025900" cy="5207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ko-KR" sz="2946" b="true" i="false" u="none" strike="noStrike">
                <a:solidFill>
                  <a:srgbClr val="595959"/>
                </a:solidFill>
                <a:ea typeface="NanumGothic"/>
              </a:rPr>
              <a:t>반려동물</a:t>
            </a:r>
            <a:r>
              <a:rPr lang="en-US" sz="294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946" b="true" i="false" u="none" strike="noStrike">
                <a:solidFill>
                  <a:srgbClr val="595959"/>
                </a:solidFill>
                <a:ea typeface="NanumGothic"/>
              </a:rPr>
              <a:t>양육</a:t>
            </a:r>
            <a:r>
              <a:rPr lang="en-US" sz="294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946" b="true" i="false" u="none" strike="noStrike">
                <a:solidFill>
                  <a:srgbClr val="595959"/>
                </a:solidFill>
                <a:ea typeface="NanumGothic"/>
              </a:rPr>
              <a:t>인구</a:t>
            </a:r>
            <a:r>
              <a:rPr lang="en-US" sz="294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946" b="true" i="false" u="none" strike="noStrike">
                <a:solidFill>
                  <a:srgbClr val="595959"/>
                </a:solidFill>
                <a:ea typeface="NanumGothic"/>
              </a:rPr>
              <a:t>증가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728200" y="4800600"/>
            <a:ext cx="5003800" cy="72009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0007600" y="5054600"/>
            <a:ext cx="1651000" cy="9652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5517" b="true" i="false" u="none" strike="noStrike">
                <a:solidFill>
                  <a:srgbClr val="595959"/>
                </a:solidFill>
                <a:latin typeface="NanumGothic"/>
              </a:rPr>
              <a:t>02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10274300" y="9017000"/>
            <a:ext cx="3924300" cy="381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0248900" y="7277100"/>
            <a:ext cx="4025900" cy="10795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ko-KR" sz="2946" b="true" i="false" u="none" strike="noStrike">
                <a:solidFill>
                  <a:srgbClr val="595959"/>
                </a:solidFill>
                <a:ea typeface="NanumGothic"/>
              </a:rPr>
              <a:t>반려인들의</a:t>
            </a:r>
            <a:r>
              <a:rPr lang="en-US" sz="294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946" b="true" i="false" u="none" strike="noStrike">
                <a:solidFill>
                  <a:srgbClr val="595959"/>
                </a:solidFill>
                <a:ea typeface="NanumGothic"/>
              </a:rPr>
              <a:t>다양한</a:t>
            </a:r>
            <a:r>
              <a:rPr lang="en-US" sz="294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946" b="true" i="false" u="none" strike="noStrike">
                <a:solidFill>
                  <a:srgbClr val="595959"/>
                </a:solidFill>
                <a:ea typeface="NanumGothic"/>
              </a:rPr>
              <a:t>요구</a:t>
            </a:r>
            <a:r>
              <a:rPr lang="en-US" sz="294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946" b="true" i="false" u="none" strike="noStrike">
                <a:solidFill>
                  <a:srgbClr val="595959"/>
                </a:solidFill>
                <a:ea typeface="NanumGothic"/>
              </a:rPr>
              <a:t>하나의</a:t>
            </a:r>
            <a:r>
              <a:rPr lang="en-US" sz="294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946" b="true" i="false" u="none" strike="noStrike">
                <a:solidFill>
                  <a:srgbClr val="595959"/>
                </a:solidFill>
                <a:ea typeface="NanumGothic"/>
              </a:rPr>
              <a:t>서비스에서</a:t>
            </a:r>
            <a:r>
              <a:rPr lang="en-US" sz="294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946" b="true" i="false" u="none" strike="noStrike">
                <a:solidFill>
                  <a:srgbClr val="595959"/>
                </a:solidFill>
                <a:ea typeface="NanumGothic"/>
              </a:rPr>
              <a:t>해결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233900" y="4800600"/>
            <a:ext cx="5003800" cy="72009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7526000" y="5054600"/>
            <a:ext cx="1651000" cy="9652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5517" b="true" i="false" u="none" strike="noStrike">
                <a:solidFill>
                  <a:srgbClr val="595959"/>
                </a:solidFill>
                <a:latin typeface="NanumGothic"/>
              </a:rPr>
              <a:t>03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17780000" y="9017000"/>
            <a:ext cx="3924300" cy="381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7754600" y="7556500"/>
            <a:ext cx="4025900" cy="5207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ko-KR" sz="2946" b="true" i="false" u="none" strike="noStrike">
                <a:solidFill>
                  <a:srgbClr val="595959"/>
                </a:solidFill>
                <a:ea typeface="NanumGothic"/>
              </a:rPr>
              <a:t>올바른</a:t>
            </a:r>
            <a:r>
              <a:rPr lang="en-US" sz="294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946" b="true" i="false" u="none" strike="noStrike">
                <a:solidFill>
                  <a:srgbClr val="595959"/>
                </a:solidFill>
                <a:ea typeface="NanumGothic"/>
              </a:rPr>
              <a:t>반려문화를</a:t>
            </a:r>
            <a:r>
              <a:rPr lang="en-US" sz="294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946" b="true" i="false" u="none" strike="noStrike">
                <a:solidFill>
                  <a:srgbClr val="595959"/>
                </a:solidFill>
                <a:ea typeface="NanumGothic"/>
              </a:rPr>
              <a:t>증진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96200" y="2336800"/>
            <a:ext cx="8648700" cy="1346200"/>
          </a:xfrm>
          <a:prstGeom prst="rect">
            <a:avLst/>
          </a:prstGeom>
        </p:spPr>
        <p:txBody>
          <a:bodyPr anchor="ctr" rtlCol="false" lIns="0" tIns="24151" rIns="0" bIns="24151"/>
          <a:lstStyle/>
          <a:p>
            <a:pPr algn="ctr" lvl="0">
              <a:lnSpc>
                <a:spcPct val="112050"/>
              </a:lnSpc>
            </a:pPr>
            <a:r>
              <a:rPr lang="ko-KR" sz="7606" b="true" i="false" u="none" strike="noStrike">
                <a:solidFill>
                  <a:srgbClr val="595959"/>
                </a:solidFill>
                <a:ea typeface="NanumGothic"/>
              </a:rPr>
              <a:t>개발</a:t>
            </a:r>
            <a:r>
              <a:rPr lang="en-US" sz="760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7606" b="true" i="false" u="none" strike="noStrike">
                <a:solidFill>
                  <a:srgbClr val="595959"/>
                </a:solidFill>
                <a:ea typeface="NanumGothic"/>
              </a:rPr>
              <a:t>배경</a:t>
            </a:r>
            <a:r>
              <a:rPr lang="en-US" sz="760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7606" b="true" i="false" u="none" strike="noStrike">
                <a:solidFill>
                  <a:srgbClr val="595959"/>
                </a:solidFill>
                <a:ea typeface="NanumGothic"/>
              </a:rPr>
              <a:t>및</a:t>
            </a:r>
            <a:r>
              <a:rPr lang="en-US" sz="760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7606" b="true" i="false" u="none" strike="noStrike">
                <a:solidFill>
                  <a:srgbClr val="595959"/>
                </a:solidFill>
                <a:ea typeface="NanumGothic"/>
              </a:rPr>
              <a:t>목적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14600" y="9880600"/>
            <a:ext cx="4406900" cy="927100"/>
          </a:xfrm>
          <a:prstGeom prst="rect">
            <a:avLst/>
          </a:prstGeom>
        </p:spPr>
        <p:txBody>
          <a:bodyPr anchor="b" rtlCol="false"/>
          <a:lstStyle/>
          <a:p>
            <a:pPr algn="ctr" lvl="0">
              <a:lnSpc>
                <a:spcPct val="124499"/>
              </a:lnSpc>
            </a:pPr>
            <a:r>
              <a:rPr lang="ko-KR" sz="2673" b="false" i="false" u="none" strike="noStrike">
                <a:solidFill>
                  <a:srgbClr val="595959"/>
                </a:solidFill>
                <a:ea typeface="Pretendard Regular"/>
              </a:rPr>
              <a:t>반려인들이</a:t>
            </a:r>
            <a:r>
              <a:rPr lang="en-US" sz="267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673" b="false" i="false" u="none" strike="noStrike">
                <a:solidFill>
                  <a:srgbClr val="595959"/>
                </a:solidFill>
                <a:ea typeface="Pretendard Regular"/>
              </a:rPr>
              <a:t>필요로</a:t>
            </a:r>
            <a:r>
              <a:rPr lang="en-US" sz="267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673" b="false" i="false" u="none" strike="noStrike">
                <a:solidFill>
                  <a:srgbClr val="595959"/>
                </a:solidFill>
                <a:ea typeface="Pretendard Regular"/>
              </a:rPr>
              <a:t>하는</a:t>
            </a:r>
            <a:r>
              <a:rPr lang="en-US" sz="2673" b="false" i="false" u="none" strike="noStrike">
                <a:solidFill>
                  <a:srgbClr val="595959"/>
                </a:solidFill>
                <a:latin typeface="Pretendard Regular"/>
              </a:rPr>
              <a:t> </a:t>
            </a:r>
          </a:p>
          <a:p>
            <a:pPr algn="ctr" lvl="0">
              <a:lnSpc>
                <a:spcPct val="124499"/>
              </a:lnSpc>
            </a:pPr>
            <a:r>
              <a:rPr lang="ko-KR" sz="2673" b="false" i="false" u="none" strike="noStrike">
                <a:solidFill>
                  <a:srgbClr val="595959"/>
                </a:solidFill>
                <a:ea typeface="Pretendard Regular"/>
              </a:rPr>
              <a:t>서비스</a:t>
            </a:r>
            <a:r>
              <a:rPr lang="en-US" sz="267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673" b="false" i="false" u="none" strike="noStrike">
                <a:solidFill>
                  <a:srgbClr val="595959"/>
                </a:solidFill>
                <a:ea typeface="Pretendard Regular"/>
              </a:rPr>
              <a:t>범위</a:t>
            </a:r>
            <a:r>
              <a:rPr lang="en-US" sz="267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673" b="false" i="false" u="none" strike="noStrike">
                <a:solidFill>
                  <a:srgbClr val="595959"/>
                </a:solidFill>
                <a:ea typeface="Pretendard Regular"/>
              </a:rPr>
              <a:t>확대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780000" y="9702800"/>
            <a:ext cx="4229100" cy="1435100"/>
          </a:xfrm>
          <a:prstGeom prst="rect">
            <a:avLst/>
          </a:prstGeom>
        </p:spPr>
        <p:txBody>
          <a:bodyPr anchor="b" rtlCol="false"/>
          <a:lstStyle/>
          <a:p>
            <a:pPr algn="l" lvl="0">
              <a:lnSpc>
                <a:spcPct val="124499"/>
              </a:lnSpc>
            </a:pPr>
            <a:r>
              <a:rPr lang="ko-KR" sz="2567" b="false" i="false" u="none" strike="noStrike">
                <a:solidFill>
                  <a:srgbClr val="595959"/>
                </a:solidFill>
                <a:ea typeface="Pretendard Regular"/>
              </a:rPr>
              <a:t>반려인들이</a:t>
            </a:r>
            <a:r>
              <a:rPr lang="en-US" sz="256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67" b="false" i="false" u="none" strike="noStrike">
                <a:solidFill>
                  <a:srgbClr val="595959"/>
                </a:solidFill>
                <a:ea typeface="Pretendard Regular"/>
              </a:rPr>
              <a:t>안정적이고</a:t>
            </a:r>
            <a:r>
              <a:rPr lang="en-US" sz="256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67" b="false" i="false" u="none" strike="noStrike">
                <a:solidFill>
                  <a:srgbClr val="595959"/>
                </a:solidFill>
                <a:ea typeface="Pretendard Regular"/>
              </a:rPr>
              <a:t>지속적인</a:t>
            </a:r>
            <a:r>
              <a:rPr lang="en-US" sz="256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67" b="false" i="false" u="none" strike="noStrike">
                <a:solidFill>
                  <a:srgbClr val="595959"/>
                </a:solidFill>
                <a:ea typeface="Pretendard Regular"/>
              </a:rPr>
              <a:t>커뮤니티</a:t>
            </a:r>
            <a:r>
              <a:rPr lang="en-US" sz="256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67" b="false" i="false" u="none" strike="noStrike">
                <a:solidFill>
                  <a:srgbClr val="595959"/>
                </a:solidFill>
                <a:ea typeface="Pretendard Regular"/>
              </a:rPr>
              <a:t>활동을</a:t>
            </a:r>
            <a:r>
              <a:rPr lang="en-US" sz="256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67" b="false" i="false" u="none" strike="noStrike">
                <a:solidFill>
                  <a:srgbClr val="595959"/>
                </a:solidFill>
                <a:ea typeface="Pretendard Regular"/>
              </a:rPr>
              <a:t>이어갈</a:t>
            </a:r>
            <a:r>
              <a:rPr lang="en-US" sz="256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67" b="false" i="false" u="none" strike="noStrike">
                <a:solidFill>
                  <a:srgbClr val="595959"/>
                </a:solidFill>
                <a:ea typeface="Pretendard Regular"/>
              </a:rPr>
              <a:t>수</a:t>
            </a:r>
            <a:r>
              <a:rPr lang="en-US" sz="256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67" b="false" i="false" u="none" strike="noStrike">
                <a:solidFill>
                  <a:srgbClr val="595959"/>
                </a:solidFill>
                <a:ea typeface="Pretendard Regular"/>
              </a:rPr>
              <a:t>있는</a:t>
            </a:r>
            <a:r>
              <a:rPr lang="en-US" sz="256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67" b="false" i="false" u="none" strike="noStrike">
                <a:solidFill>
                  <a:srgbClr val="595959"/>
                </a:solidFill>
                <a:ea typeface="Pretendard Regular"/>
              </a:rPr>
              <a:t>환경을</a:t>
            </a:r>
            <a:r>
              <a:rPr lang="en-US" sz="2567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67" b="false" i="false" u="none" strike="noStrike">
                <a:solidFill>
                  <a:srgbClr val="595959"/>
                </a:solidFill>
                <a:ea typeface="Pretendard Regular"/>
              </a:rPr>
              <a:t>구축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34600" y="9740900"/>
            <a:ext cx="4292600" cy="1397000"/>
          </a:xfrm>
          <a:prstGeom prst="rect">
            <a:avLst/>
          </a:prstGeom>
        </p:spPr>
        <p:txBody>
          <a:bodyPr anchor="ctr" rtlCol="false"/>
          <a:lstStyle/>
          <a:p>
            <a:pPr algn="ctr" lvl="0">
              <a:lnSpc>
                <a:spcPct val="124499"/>
              </a:lnSpc>
            </a:pP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반려동물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관련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정보와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소통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기능여러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플랫폼에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분산되어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있는</a:t>
            </a:r>
          </a:p>
          <a:p>
            <a:pPr algn="ctr" lvl="0">
              <a:lnSpc>
                <a:spcPct val="124499"/>
              </a:lnSpc>
            </a:pP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환경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599" b="false" i="false" u="none" strike="noStrike">
                <a:solidFill>
                  <a:srgbClr val="595959"/>
                </a:solidFill>
                <a:ea typeface="Pretendard Regular"/>
              </a:rPr>
              <a:t>개선</a:t>
            </a:r>
            <a:r>
              <a:rPr lang="en-US" sz="2599" b="false" i="false" u="none" strike="noStrike">
                <a:solidFill>
                  <a:srgbClr val="595959"/>
                </a:solidFill>
                <a:latin typeface="Pretendard Regular"/>
              </a:rPr>
              <a:t> 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564100" y="1397000"/>
            <a:ext cx="4572000" cy="266700"/>
          </a:xfrm>
          <a:prstGeom prst="rect">
            <a:avLst/>
          </a:prstGeom>
        </p:spPr>
        <p:txBody>
          <a:bodyPr anchor="ctr" rtlCol="false"/>
          <a:lstStyle/>
          <a:p>
            <a:pPr algn="r" lvl="0">
              <a:lnSpc>
                <a:spcPct val="124499"/>
              </a:lnSpc>
            </a:pPr>
            <a:r>
              <a:rPr lang="en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My Pet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16100" y="1384300"/>
            <a:ext cx="6096000" cy="2794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2025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오픈소스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개발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프로젝트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7D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520700"/>
            <a:ext cx="23495000" cy="1268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798300" y="4445000"/>
            <a:ext cx="10947400" cy="14605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811000" y="4584700"/>
            <a:ext cx="1485900" cy="8763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43000" y="4902200"/>
            <a:ext cx="7391400" cy="596900"/>
          </a:xfrm>
          <a:prstGeom prst="rect">
            <a:avLst/>
          </a:prstGeom>
        </p:spPr>
        <p:txBody>
          <a:bodyPr anchor="ctr" rtlCol="false" lIns="0" tIns="35559" rIns="0" bIns="35559"/>
          <a:lstStyle/>
          <a:p>
            <a:pPr algn="l" lvl="0">
              <a:lnSpc>
                <a:spcPct val="99600"/>
              </a:lnSpc>
            </a:pPr>
            <a:r>
              <a:rPr lang="en" sz="2799" b="true" i="false" u="none" strike="noStrike">
                <a:solidFill>
                  <a:srgbClr val="595959"/>
                </a:solidFill>
                <a:highlight>
                  <a:srgbClr val="FFDE9B"/>
                </a:highlight>
                <a:ea typeface="NanumGothic"/>
              </a:rPr>
              <a:t>포인핸드</a:t>
            </a:r>
            <a:r>
              <a:rPr lang="en-US" sz="2799" b="true" i="false" u="none" strike="noStrike">
                <a:solidFill>
                  <a:srgbClr val="595959"/>
                </a:solidFill>
                <a:latin typeface="NanumGothic"/>
              </a:rPr>
              <a:t> - </a:t>
            </a:r>
            <a:r>
              <a:rPr lang="ko-KR" sz="2799" b="true" i="false" u="none" strike="noStrike">
                <a:solidFill>
                  <a:srgbClr val="595959"/>
                </a:solidFill>
                <a:ea typeface="NanumGothic"/>
              </a:rPr>
              <a:t>유기동물</a:t>
            </a:r>
            <a:r>
              <a:rPr lang="en-US" sz="2799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799" b="true" i="false" u="none" strike="noStrike">
                <a:solidFill>
                  <a:srgbClr val="595959"/>
                </a:solidFill>
                <a:ea typeface="NanumGothic"/>
              </a:rPr>
              <a:t>입양</a:t>
            </a:r>
            <a:r>
              <a:rPr lang="en-US" sz="2799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799" b="true" i="false" u="none" strike="noStrike">
                <a:solidFill>
                  <a:srgbClr val="595959"/>
                </a:solidFill>
                <a:ea typeface="NanumGothic"/>
              </a:rPr>
              <a:t>사이트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50900" y="10477500"/>
            <a:ext cx="10947400" cy="14605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863600" y="10617200"/>
            <a:ext cx="1485900" cy="8763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02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14400" y="3949700"/>
            <a:ext cx="10680700" cy="59563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781300" y="11036300"/>
            <a:ext cx="8102600" cy="495300"/>
          </a:xfrm>
          <a:prstGeom prst="rect">
            <a:avLst/>
          </a:prstGeom>
        </p:spPr>
        <p:txBody>
          <a:bodyPr anchor="ctr" rtlCol="false" lIns="0" tIns="35559" rIns="0" bIns="35559"/>
          <a:lstStyle/>
          <a:p>
            <a:pPr algn="l" lvl="0">
              <a:lnSpc>
                <a:spcPct val="99600"/>
              </a:lnSpc>
            </a:pPr>
            <a:r>
              <a:rPr lang="en" sz="2799" b="true" i="false" u="none" strike="noStrike">
                <a:solidFill>
                  <a:srgbClr val="595959"/>
                </a:solidFill>
                <a:highlight>
                  <a:srgbClr val="FFDE9B"/>
                </a:highlight>
                <a:ea typeface="NanumGothic"/>
              </a:rPr>
              <a:t>펫트라슈</a:t>
            </a:r>
            <a:r>
              <a:rPr lang="en-US" sz="2799" b="true" i="false" u="none" strike="noStrike">
                <a:solidFill>
                  <a:srgbClr val="595959"/>
                </a:solidFill>
                <a:latin typeface="NanumGothic"/>
              </a:rPr>
              <a:t>- </a:t>
            </a:r>
            <a:r>
              <a:rPr lang="ko-KR" sz="2799" b="true" i="false" u="none" strike="noStrike">
                <a:solidFill>
                  <a:srgbClr val="595959"/>
                </a:solidFill>
                <a:ea typeface="NanumGothic"/>
              </a:rPr>
              <a:t>인근</a:t>
            </a:r>
            <a:r>
              <a:rPr lang="en-US" sz="2799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799" b="true" i="false" u="none" strike="noStrike">
                <a:solidFill>
                  <a:srgbClr val="595959"/>
                </a:solidFill>
                <a:ea typeface="NanumGothic"/>
              </a:rPr>
              <a:t>동물병원</a:t>
            </a:r>
            <a:r>
              <a:rPr lang="en-US" sz="2799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799" b="true" i="false" u="none" strike="noStrike">
                <a:solidFill>
                  <a:srgbClr val="595959"/>
                </a:solidFill>
                <a:ea typeface="NanumGothic"/>
              </a:rPr>
              <a:t>표시하는</a:t>
            </a:r>
            <a:r>
              <a:rPr lang="en-US" sz="2799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799" b="true" i="false" u="none" strike="noStrike">
                <a:solidFill>
                  <a:srgbClr val="595959"/>
                </a:solidFill>
                <a:ea typeface="NanumGothic"/>
              </a:rPr>
              <a:t>지도</a:t>
            </a:r>
            <a:r>
              <a:rPr lang="en-US" sz="2799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799" b="true" i="false" u="none" strike="noStrike">
                <a:solidFill>
                  <a:srgbClr val="595959"/>
                </a:solidFill>
                <a:ea typeface="NanumGothic"/>
              </a:rPr>
              <a:t>서비스</a:t>
            </a:r>
            <a:r>
              <a:rPr lang="en-US" sz="2799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2799" b="true" i="false" u="none" strike="noStrike">
                <a:solidFill>
                  <a:srgbClr val="595959"/>
                </a:solidFill>
                <a:ea typeface="NanumGothic"/>
              </a:rPr>
              <a:t>제공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55700" y="4229100"/>
            <a:ext cx="10198100" cy="5372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293600" y="6921500"/>
            <a:ext cx="10680700" cy="5994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598400" y="7264400"/>
            <a:ext cx="10071100" cy="53086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7564100" y="1397000"/>
            <a:ext cx="4572000" cy="266700"/>
          </a:xfrm>
          <a:prstGeom prst="rect">
            <a:avLst/>
          </a:prstGeom>
        </p:spPr>
        <p:txBody>
          <a:bodyPr anchor="ctr" rtlCol="false"/>
          <a:lstStyle/>
          <a:p>
            <a:pPr algn="r" lvl="0">
              <a:lnSpc>
                <a:spcPct val="124499"/>
              </a:lnSpc>
            </a:pPr>
            <a:r>
              <a:rPr lang="en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My Pet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16100" y="1384300"/>
            <a:ext cx="6096000" cy="2794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2025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오픈소스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개발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프로젝트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5400" y="2108200"/>
            <a:ext cx="9639300" cy="1473200"/>
          </a:xfrm>
          <a:prstGeom prst="rect">
            <a:avLst/>
          </a:prstGeom>
        </p:spPr>
        <p:txBody>
          <a:bodyPr anchor="ctr" rtlCol="false" lIns="0" tIns="26268" rIns="0" bIns="26268"/>
          <a:lstStyle/>
          <a:p>
            <a:pPr algn="ctr" lvl="0">
              <a:lnSpc>
                <a:spcPct val="112050"/>
              </a:lnSpc>
            </a:pPr>
            <a:r>
              <a:rPr lang="ko-KR" sz="8273" b="true" i="false" u="none" strike="noStrike">
                <a:solidFill>
                  <a:srgbClr val="595959"/>
                </a:solidFill>
                <a:ea typeface="NanumGothic"/>
              </a:rPr>
              <a:t>유사</a:t>
            </a:r>
            <a:r>
              <a:rPr lang="en-US" sz="8273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8273" b="true" i="false" u="none" strike="noStrike">
                <a:solidFill>
                  <a:srgbClr val="595959"/>
                </a:solidFill>
                <a:ea typeface="NanumGothic"/>
              </a:rPr>
              <a:t>프로그램</a:t>
            </a:r>
            <a:r>
              <a:rPr lang="en-US" sz="8273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8273" b="true" i="false" u="none" strike="noStrike">
                <a:solidFill>
                  <a:srgbClr val="595959"/>
                </a:solidFill>
                <a:ea typeface="NanumGothic"/>
              </a:rPr>
              <a:t>조사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7D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520700"/>
            <a:ext cx="23495000" cy="126873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8288000" y="2603500"/>
            <a:ext cx="4051300" cy="444500"/>
          </a:xfrm>
          <a:prstGeom prst="rect">
            <a:avLst/>
          </a:prstGeom>
        </p:spPr>
        <p:txBody>
          <a:bodyPr anchor="ctr" rtlCol="false" lIns="0" tIns="16086" rIns="0" bIns="16086"/>
          <a:lstStyle/>
          <a:p>
            <a:pPr algn="l" lvl="0">
              <a:lnSpc>
                <a:spcPct val="107899"/>
              </a:lnSpc>
            </a:pPr>
            <a:r>
              <a:rPr lang="en" sz="2533" b="false" i="false" u="none" strike="noStrike">
                <a:solidFill>
                  <a:srgbClr val="595959"/>
                </a:solidFill>
                <a:latin typeface="Pretendard Regular"/>
              </a:rPr>
              <a:t>Development Environment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89100" y="2298700"/>
            <a:ext cx="3111500" cy="1028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866900" y="2336800"/>
            <a:ext cx="2832100" cy="901700"/>
          </a:xfrm>
          <a:prstGeom prst="rect">
            <a:avLst/>
          </a:prstGeom>
        </p:spPr>
        <p:txBody>
          <a:bodyPr anchor="ctr" rtlCol="false" lIns="0" tIns="54185" rIns="0" bIns="54185"/>
          <a:lstStyle/>
          <a:p>
            <a:pPr algn="ctr" lvl="0">
              <a:lnSpc>
                <a:spcPct val="99600"/>
              </a:lnSpc>
            </a:pPr>
            <a:r>
              <a:rPr lang="en" sz="4266" b="true" i="false" u="none" strike="noStrike">
                <a:solidFill>
                  <a:srgbClr val="595959"/>
                </a:solidFill>
                <a:ea typeface="NanumGothic"/>
              </a:rPr>
              <a:t>개발환경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564100" y="1397000"/>
            <a:ext cx="4572000" cy="266700"/>
          </a:xfrm>
          <a:prstGeom prst="rect">
            <a:avLst/>
          </a:prstGeom>
        </p:spPr>
        <p:txBody>
          <a:bodyPr anchor="ctr" rtlCol="false"/>
          <a:lstStyle/>
          <a:p>
            <a:pPr algn="r" lvl="0">
              <a:lnSpc>
                <a:spcPct val="124499"/>
              </a:lnSpc>
            </a:pPr>
            <a:r>
              <a:rPr lang="en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My Pet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16100" y="1384300"/>
            <a:ext cx="6096000" cy="2794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2025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오픈소스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개발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프로젝트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 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82700" y="4025900"/>
            <a:ext cx="21196300" cy="7620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43100" y="4533900"/>
            <a:ext cx="2781300" cy="2705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440400" y="4533900"/>
            <a:ext cx="2781300" cy="2705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135100" y="4533900"/>
            <a:ext cx="2781300" cy="2705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248400" y="4533900"/>
            <a:ext cx="6235700" cy="2705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481300" y="8026400"/>
            <a:ext cx="6235700" cy="2705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794000" y="8026400"/>
            <a:ext cx="2781300" cy="2705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099300" y="8026400"/>
            <a:ext cx="2781300" cy="2705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341100" y="8026400"/>
            <a:ext cx="2781300" cy="2705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260600" y="4838700"/>
            <a:ext cx="2362200" cy="2095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565900" y="4648200"/>
            <a:ext cx="2387600" cy="2463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398000" y="4597400"/>
            <a:ext cx="2971800" cy="25654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2489200" y="7327900"/>
            <a:ext cx="1676400" cy="520700"/>
          </a:xfrm>
          <a:prstGeom prst="rect">
            <a:avLst/>
          </a:prstGeom>
        </p:spPr>
        <p:txBody>
          <a:bodyPr anchor="ctr" rtlCol="false" lIns="0" tIns="37252" rIns="0" bIns="37252"/>
          <a:lstStyle/>
          <a:p>
            <a:pPr algn="ctr" lvl="0">
              <a:lnSpc>
                <a:spcPct val="99600"/>
              </a:lnSpc>
            </a:pPr>
            <a:r>
              <a:rPr lang="en" sz="2933" b="true" i="false" u="none" strike="noStrike">
                <a:solidFill>
                  <a:srgbClr val="595959"/>
                </a:solidFill>
                <a:ea typeface="NanumGothic"/>
              </a:rPr>
              <a:t>버전관리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681200" y="7327900"/>
            <a:ext cx="1676400" cy="520700"/>
          </a:xfrm>
          <a:prstGeom prst="rect">
            <a:avLst/>
          </a:prstGeom>
        </p:spPr>
        <p:txBody>
          <a:bodyPr anchor="ctr" rtlCol="false" lIns="0" tIns="37252" rIns="0" bIns="37252"/>
          <a:lstStyle/>
          <a:p>
            <a:pPr algn="ctr" lvl="0">
              <a:lnSpc>
                <a:spcPct val="99600"/>
              </a:lnSpc>
            </a:pPr>
            <a:r>
              <a:rPr lang="en" sz="2933" b="true" i="false" u="none" strike="noStrike">
                <a:solidFill>
                  <a:srgbClr val="595959"/>
                </a:solidFill>
                <a:ea typeface="NanumGothic"/>
              </a:rPr>
              <a:t>언어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21700" y="7327900"/>
            <a:ext cx="1676400" cy="520700"/>
          </a:xfrm>
          <a:prstGeom prst="rect">
            <a:avLst/>
          </a:prstGeom>
        </p:spPr>
        <p:txBody>
          <a:bodyPr anchor="ctr" rtlCol="false" lIns="0" tIns="37252" rIns="0" bIns="37252"/>
          <a:lstStyle/>
          <a:p>
            <a:pPr algn="ctr" lvl="0">
              <a:lnSpc>
                <a:spcPct val="99600"/>
              </a:lnSpc>
            </a:pPr>
            <a:r>
              <a:rPr lang="ko-KR" sz="2933" b="true" i="false" u="none" strike="noStrike">
                <a:solidFill>
                  <a:srgbClr val="595959"/>
                </a:solidFill>
                <a:ea typeface="NanumGothic"/>
              </a:rPr>
              <a:t>개발</a:t>
            </a:r>
            <a:r>
              <a:rPr lang="en-US" sz="2933" b="true" i="false" u="none" strike="noStrike">
                <a:solidFill>
                  <a:srgbClr val="595959"/>
                </a:solidFill>
                <a:latin typeface="NanumGothic"/>
              </a:rPr>
              <a:t>IDE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589500" y="10820400"/>
            <a:ext cx="2095500" cy="520700"/>
          </a:xfrm>
          <a:prstGeom prst="rect">
            <a:avLst/>
          </a:prstGeom>
        </p:spPr>
        <p:txBody>
          <a:bodyPr anchor="ctr" rtlCol="false" lIns="0" tIns="37252" rIns="0" bIns="37252"/>
          <a:lstStyle/>
          <a:p>
            <a:pPr algn="ctr" lvl="0">
              <a:lnSpc>
                <a:spcPct val="99600"/>
              </a:lnSpc>
            </a:pPr>
            <a:r>
              <a:rPr lang="en" sz="2933" b="true" i="false" u="none" strike="noStrike">
                <a:solidFill>
                  <a:srgbClr val="595959"/>
                </a:solidFill>
                <a:latin typeface="NanumGothic"/>
              </a:rPr>
              <a:t>Front-end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36900" y="10769600"/>
            <a:ext cx="2044700" cy="622300"/>
          </a:xfrm>
          <a:prstGeom prst="rect">
            <a:avLst/>
          </a:prstGeom>
        </p:spPr>
        <p:txBody>
          <a:bodyPr anchor="ctr" rtlCol="false" lIns="0" tIns="37252" rIns="0" bIns="37252"/>
          <a:lstStyle/>
          <a:p>
            <a:pPr algn="ctr" lvl="0">
              <a:lnSpc>
                <a:spcPct val="99600"/>
              </a:lnSpc>
            </a:pPr>
            <a:r>
              <a:rPr lang="en" sz="2933" b="true" i="false" u="none" strike="noStrike">
                <a:solidFill>
                  <a:srgbClr val="595959"/>
                </a:solidFill>
                <a:ea typeface="NanumGothic"/>
              </a:rPr>
              <a:t>빌드도구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808700" y="7327900"/>
            <a:ext cx="2044700" cy="520700"/>
          </a:xfrm>
          <a:prstGeom prst="rect">
            <a:avLst/>
          </a:prstGeom>
        </p:spPr>
        <p:txBody>
          <a:bodyPr anchor="ctr" rtlCol="false" lIns="0" tIns="37252" rIns="0" bIns="37252"/>
          <a:lstStyle/>
          <a:p>
            <a:pPr algn="ctr" lvl="0">
              <a:lnSpc>
                <a:spcPct val="99600"/>
              </a:lnSpc>
            </a:pPr>
            <a:r>
              <a:rPr lang="en" sz="2933" b="true" i="false" u="none" strike="noStrike">
                <a:solidFill>
                  <a:srgbClr val="595959"/>
                </a:solidFill>
                <a:ea typeface="NanumGothic"/>
              </a:rPr>
              <a:t>프레임워크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80800" y="10820400"/>
            <a:ext cx="2514600" cy="520700"/>
          </a:xfrm>
          <a:prstGeom prst="rect">
            <a:avLst/>
          </a:prstGeom>
        </p:spPr>
        <p:txBody>
          <a:bodyPr anchor="ctr" rtlCol="false" lIns="0" tIns="37252" rIns="0" bIns="37252"/>
          <a:lstStyle/>
          <a:p>
            <a:pPr algn="ctr" lvl="0">
              <a:lnSpc>
                <a:spcPct val="99600"/>
              </a:lnSpc>
            </a:pPr>
            <a:r>
              <a:rPr lang="en-US" sz="2933" b="true" i="false" u="none" strike="noStrike">
                <a:solidFill>
                  <a:srgbClr val="595959"/>
                </a:solidFill>
                <a:latin typeface="NanumGothic"/>
              </a:rPr>
              <a:t>REST API</a:t>
            </a:r>
            <a:r>
              <a:rPr lang="ko-KR" sz="2933" b="true" i="false" u="none" strike="noStrike">
                <a:solidFill>
                  <a:srgbClr val="595959"/>
                </a:solidFill>
                <a:ea typeface="NanumGothic"/>
              </a:rPr>
              <a:t>명세</a:t>
            </a:r>
            <a:r>
              <a:rPr lang="en-US" sz="2933" b="true" i="false" u="none" strike="noStrike">
                <a:solidFill>
                  <a:srgbClr val="595959"/>
                </a:solidFill>
                <a:latin typeface="NanumGothic"/>
              </a:rPr>
              <a:t> 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45400" y="10769600"/>
            <a:ext cx="1676400" cy="622300"/>
          </a:xfrm>
          <a:prstGeom prst="rect">
            <a:avLst/>
          </a:prstGeom>
        </p:spPr>
        <p:txBody>
          <a:bodyPr anchor="ctr" rtlCol="false" lIns="0" tIns="37252" rIns="0" bIns="37252"/>
          <a:lstStyle/>
          <a:p>
            <a:pPr algn="ctr" lvl="0">
              <a:lnSpc>
                <a:spcPct val="99600"/>
              </a:lnSpc>
            </a:pPr>
            <a:r>
              <a:rPr lang="en" sz="2933" b="true" i="false" u="none" strike="noStrike">
                <a:solidFill>
                  <a:srgbClr val="595959"/>
                </a:solidFill>
                <a:latin typeface="NanumGothic"/>
              </a:rPr>
              <a:t>DB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8592800" y="4572000"/>
            <a:ext cx="2476500" cy="25019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287500" y="4533900"/>
            <a:ext cx="2235200" cy="25781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882900" y="9042400"/>
            <a:ext cx="2616200" cy="6858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7150100" y="8115300"/>
            <a:ext cx="2667000" cy="25273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341100" y="8051800"/>
            <a:ext cx="2781300" cy="2679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5925800" y="8051800"/>
            <a:ext cx="2476500" cy="26162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8872200" y="8153400"/>
            <a:ext cx="2387600" cy="2463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7D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520700"/>
            <a:ext cx="23495000" cy="1268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89100" y="2298700"/>
            <a:ext cx="6794500" cy="1028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070100" y="2413000"/>
            <a:ext cx="6032500" cy="762000"/>
          </a:xfrm>
          <a:prstGeom prst="rect">
            <a:avLst/>
          </a:prstGeom>
        </p:spPr>
        <p:txBody>
          <a:bodyPr anchor="ctr" rtlCol="false" lIns="0" tIns="54185" rIns="0" bIns="54185"/>
          <a:lstStyle/>
          <a:p>
            <a:pPr algn="ctr" lvl="0">
              <a:lnSpc>
                <a:spcPct val="99600"/>
              </a:lnSpc>
            </a:pP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시스템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구성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및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아키텍쳐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984500" y="3632200"/>
            <a:ext cx="18415000" cy="92329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7564100" y="1397000"/>
            <a:ext cx="4572000" cy="266700"/>
          </a:xfrm>
          <a:prstGeom prst="rect">
            <a:avLst/>
          </a:prstGeom>
        </p:spPr>
        <p:txBody>
          <a:bodyPr anchor="ctr" rtlCol="false"/>
          <a:lstStyle/>
          <a:p>
            <a:pPr algn="r" lvl="0">
              <a:lnSpc>
                <a:spcPct val="124499"/>
              </a:lnSpc>
            </a:pPr>
            <a:r>
              <a:rPr lang="en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My Pet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16100" y="1384300"/>
            <a:ext cx="6096000" cy="2794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2025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오픈소스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개발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프로젝트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7D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520700"/>
            <a:ext cx="23495000" cy="1268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947400" y="3048000"/>
            <a:ext cx="10947400" cy="14605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960100" y="3187700"/>
            <a:ext cx="1485900" cy="8763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77800" y="3581400"/>
            <a:ext cx="7416800" cy="558800"/>
          </a:xfrm>
          <a:prstGeom prst="rect">
            <a:avLst/>
          </a:prstGeom>
        </p:spPr>
        <p:txBody>
          <a:bodyPr anchor="ctr" rtlCol="false" lIns="0" tIns="40639" rIns="0" bIns="40639"/>
          <a:lstStyle/>
          <a:p>
            <a:pPr algn="l" lvl="0">
              <a:lnSpc>
                <a:spcPct val="99600"/>
              </a:lnSpc>
            </a:pPr>
            <a:r>
              <a:rPr lang="ko-KR" sz="3199" b="true" i="false" u="none" strike="noStrike">
                <a:solidFill>
                  <a:srgbClr val="595959"/>
                </a:solidFill>
                <a:ea typeface="NanumGothic"/>
              </a:rPr>
              <a:t>회원가입</a:t>
            </a:r>
            <a:r>
              <a:rPr lang="en-US" sz="3199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199" b="true" i="false" u="none" strike="noStrike">
                <a:solidFill>
                  <a:srgbClr val="595959"/>
                </a:solidFill>
                <a:ea typeface="NanumGothic"/>
              </a:rPr>
              <a:t>화면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16100" y="8318500"/>
            <a:ext cx="10947400" cy="14605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828800" y="8445500"/>
            <a:ext cx="1485900" cy="8763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46500" y="8839200"/>
            <a:ext cx="7416800" cy="558800"/>
          </a:xfrm>
          <a:prstGeom prst="rect">
            <a:avLst/>
          </a:prstGeom>
        </p:spPr>
        <p:txBody>
          <a:bodyPr anchor="ctr" rtlCol="false" lIns="0" tIns="40639" rIns="0" bIns="40639"/>
          <a:lstStyle/>
          <a:p>
            <a:pPr algn="l" lvl="0">
              <a:lnSpc>
                <a:spcPct val="99600"/>
              </a:lnSpc>
            </a:pPr>
            <a:r>
              <a:rPr lang="ko-KR" sz="3199" b="true" i="false" u="none" strike="noStrike">
                <a:solidFill>
                  <a:srgbClr val="595959"/>
                </a:solidFill>
                <a:ea typeface="NanumGothic"/>
              </a:rPr>
              <a:t>로그인</a:t>
            </a:r>
            <a:r>
              <a:rPr lang="en-US" sz="3199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199" b="true" i="false" u="none" strike="noStrike">
                <a:solidFill>
                  <a:srgbClr val="595959"/>
                </a:solidFill>
                <a:ea typeface="NanumGothic"/>
              </a:rPr>
              <a:t>화면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63300" y="4940300"/>
            <a:ext cx="10515600" cy="1600200"/>
          </a:xfrm>
          <a:prstGeom prst="rect">
            <a:avLst/>
          </a:prstGeom>
        </p:spPr>
        <p:txBody>
          <a:bodyPr anchor="ctr" rtlCol="false"/>
          <a:lstStyle/>
          <a:p>
            <a:pPr algn="just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사용자는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아이디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·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비밀번호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등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기본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정보를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입력해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신규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계정을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생성할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수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있다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.</a:t>
            </a:r>
          </a:p>
          <a:p>
            <a:pPr algn="just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입력값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검증을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통해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중복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가입을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방지하도록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처리한다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2000" y="10299700"/>
            <a:ext cx="10515600" cy="977900"/>
          </a:xfrm>
          <a:prstGeom prst="rect">
            <a:avLst/>
          </a:prstGeom>
        </p:spPr>
        <p:txBody>
          <a:bodyPr anchor="ctr" rtlCol="false"/>
          <a:lstStyle/>
          <a:p>
            <a:pPr algn="just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등록된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계정을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통해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서비스에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로그인하여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서비스를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이용할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수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있다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.</a:t>
            </a:r>
          </a:p>
          <a:p>
            <a:pPr algn="just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카카오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계정을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통해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별도의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회원가입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없이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빠르게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로그인할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수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있다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.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16100" y="3073400"/>
            <a:ext cx="8496300" cy="4241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652500" y="8318500"/>
            <a:ext cx="8496300" cy="42418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7564100" y="1397000"/>
            <a:ext cx="4572000" cy="266700"/>
          </a:xfrm>
          <a:prstGeom prst="rect">
            <a:avLst/>
          </a:prstGeom>
        </p:spPr>
        <p:txBody>
          <a:bodyPr anchor="ctr" rtlCol="false"/>
          <a:lstStyle/>
          <a:p>
            <a:pPr algn="r" lvl="0">
              <a:lnSpc>
                <a:spcPct val="124499"/>
              </a:lnSpc>
            </a:pPr>
            <a:r>
              <a:rPr lang="en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My Pet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16100" y="1384300"/>
            <a:ext cx="6096000" cy="2794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2025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오픈소스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개발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프로젝트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 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638800" y="1219200"/>
            <a:ext cx="12674600" cy="1155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5930900" y="1346200"/>
            <a:ext cx="12039600" cy="901700"/>
          </a:xfrm>
          <a:prstGeom prst="rect">
            <a:avLst/>
          </a:prstGeom>
        </p:spPr>
        <p:txBody>
          <a:bodyPr anchor="ctr" rtlCol="false" lIns="0" tIns="54186" rIns="0" bIns="54186"/>
          <a:lstStyle/>
          <a:p>
            <a:pPr algn="ctr" lvl="0">
              <a:lnSpc>
                <a:spcPct val="99600"/>
              </a:lnSpc>
            </a:pP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회원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관리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및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마이페이지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기능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7D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520700"/>
            <a:ext cx="23495000" cy="1268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947400" y="3556000"/>
            <a:ext cx="10947400" cy="14605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960100" y="3606800"/>
            <a:ext cx="1485900" cy="10414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77800" y="4025900"/>
            <a:ext cx="7416800" cy="673100"/>
          </a:xfrm>
          <a:prstGeom prst="rect">
            <a:avLst/>
          </a:prstGeom>
        </p:spPr>
        <p:txBody>
          <a:bodyPr anchor="ctr" rtlCol="false" lIns="0" tIns="40639" rIns="0" bIns="40639"/>
          <a:lstStyle/>
          <a:p>
            <a:pPr algn="l" lvl="0">
              <a:lnSpc>
                <a:spcPct val="99600"/>
              </a:lnSpc>
            </a:pPr>
            <a:r>
              <a:rPr lang="en" sz="3199" b="true" i="false" u="none" strike="noStrike">
                <a:solidFill>
                  <a:srgbClr val="595959"/>
                </a:solidFill>
                <a:ea typeface="NanumGothic"/>
              </a:rPr>
              <a:t>마이페이지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163300" y="5448300"/>
            <a:ext cx="10515600" cy="1600200"/>
          </a:xfrm>
          <a:prstGeom prst="rect">
            <a:avLst/>
          </a:prstGeom>
        </p:spPr>
        <p:txBody>
          <a:bodyPr anchor="ctr" rtlCol="false"/>
          <a:lstStyle/>
          <a:p>
            <a:pPr algn="just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사용자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정보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작성한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게시글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북마크한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글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등을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한곳에서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관리할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수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있다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.</a:t>
            </a:r>
          </a:p>
          <a:p>
            <a:pPr algn="just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프로필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기본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정보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수정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기능을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제공한다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.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16100" y="3073400"/>
            <a:ext cx="8496300" cy="4241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16100" y="8318500"/>
            <a:ext cx="8496300" cy="424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242800" y="8318500"/>
            <a:ext cx="7645400" cy="42418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7564100" y="1397000"/>
            <a:ext cx="4572000" cy="266700"/>
          </a:xfrm>
          <a:prstGeom prst="rect">
            <a:avLst/>
          </a:prstGeom>
        </p:spPr>
        <p:txBody>
          <a:bodyPr anchor="ctr" rtlCol="false"/>
          <a:lstStyle/>
          <a:p>
            <a:pPr algn="r" lvl="0">
              <a:lnSpc>
                <a:spcPct val="124499"/>
              </a:lnSpc>
            </a:pPr>
            <a:r>
              <a:rPr lang="en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My Pet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16100" y="1384300"/>
            <a:ext cx="6096000" cy="2794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2025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오픈소스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개발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프로젝트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 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38800" y="1219200"/>
            <a:ext cx="12674600" cy="1155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5930900" y="1346200"/>
            <a:ext cx="12039600" cy="901700"/>
          </a:xfrm>
          <a:prstGeom prst="rect">
            <a:avLst/>
          </a:prstGeom>
        </p:spPr>
        <p:txBody>
          <a:bodyPr anchor="ctr" rtlCol="false" lIns="0" tIns="54186" rIns="0" bIns="54186"/>
          <a:lstStyle/>
          <a:p>
            <a:pPr algn="ctr" lvl="0">
              <a:lnSpc>
                <a:spcPct val="99600"/>
              </a:lnSpc>
            </a:pP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회원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관리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및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마이페이지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기능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7D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520700"/>
            <a:ext cx="23495000" cy="1268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947400" y="3048000"/>
            <a:ext cx="10947400" cy="14605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960100" y="3098800"/>
            <a:ext cx="1485900" cy="10414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77800" y="3517900"/>
            <a:ext cx="7416800" cy="673100"/>
          </a:xfrm>
          <a:prstGeom prst="rect">
            <a:avLst/>
          </a:prstGeom>
        </p:spPr>
        <p:txBody>
          <a:bodyPr anchor="ctr" rtlCol="false" lIns="0" tIns="40639" rIns="0" bIns="40639"/>
          <a:lstStyle/>
          <a:p>
            <a:pPr algn="l" lvl="0">
              <a:lnSpc>
                <a:spcPct val="99600"/>
              </a:lnSpc>
            </a:pPr>
            <a:r>
              <a:rPr lang="en" sz="3199" b="true" i="false" u="none" strike="noStrike">
                <a:solidFill>
                  <a:srgbClr val="595959"/>
                </a:solidFill>
                <a:ea typeface="NanumGothic"/>
              </a:rPr>
              <a:t>메인화면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16100" y="8318500"/>
            <a:ext cx="10947400" cy="14605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828800" y="8356600"/>
            <a:ext cx="1485900" cy="10414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46500" y="8788400"/>
            <a:ext cx="7416800" cy="673100"/>
          </a:xfrm>
          <a:prstGeom prst="rect">
            <a:avLst/>
          </a:prstGeom>
        </p:spPr>
        <p:txBody>
          <a:bodyPr anchor="ctr" rtlCol="false" lIns="0" tIns="40639" rIns="0" bIns="40639"/>
          <a:lstStyle/>
          <a:p>
            <a:pPr algn="l" lvl="0">
              <a:lnSpc>
                <a:spcPct val="99600"/>
              </a:lnSpc>
            </a:pPr>
            <a:r>
              <a:rPr lang="en" sz="3199" b="true" i="false" u="none" strike="noStrike">
                <a:solidFill>
                  <a:srgbClr val="595959"/>
                </a:solidFill>
                <a:ea typeface="NanumGothic"/>
              </a:rPr>
              <a:t>필터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63300" y="4965700"/>
            <a:ext cx="10515600" cy="2222500"/>
          </a:xfrm>
          <a:prstGeom prst="rect">
            <a:avLst/>
          </a:prstGeom>
        </p:spPr>
        <p:txBody>
          <a:bodyPr anchor="ctr" rtlCol="false"/>
          <a:lstStyle/>
          <a:p>
            <a:pPr algn="just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최신순으로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전체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포스트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목록을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확인할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수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있다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.</a:t>
            </a:r>
          </a:p>
          <a:p>
            <a:pPr algn="just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로그인한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사용자는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신규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게시글을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작성할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수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있으며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본인이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작성한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게시글을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수정하거나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삭제할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수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있다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.</a:t>
            </a:r>
          </a:p>
          <a:p>
            <a:pPr algn="just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" sz="2933" b="false" i="false" u="none" strike="noStrike">
                <a:solidFill>
                  <a:srgbClr val="595959"/>
                </a:solidFill>
                <a:latin typeface="Pretendard Regular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2000" y="10185400"/>
            <a:ext cx="10706100" cy="1752600"/>
          </a:xfrm>
          <a:prstGeom prst="rect">
            <a:avLst/>
          </a:prstGeom>
        </p:spPr>
        <p:txBody>
          <a:bodyPr anchor="ctr" rtlCol="false"/>
          <a:lstStyle/>
          <a:p>
            <a:pPr algn="just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강아지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/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고양이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종류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키워드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등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조건을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기반으로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원하는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게시글만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선별해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볼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수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있다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.</a:t>
            </a:r>
          </a:p>
          <a:p>
            <a:pPr algn="just" lvl="0">
              <a:lnSpc>
                <a:spcPct val="141100"/>
              </a:lnSpc>
            </a:pPr>
            <a:r>
              <a:rPr lang="en" sz="2933" b="false" i="false" u="none" strike="noStrike">
                <a:solidFill>
                  <a:srgbClr val="595959"/>
                </a:solidFill>
                <a:latin typeface="Pretendard Regular"/>
              </a:rPr>
              <a:t/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12900" y="3048000"/>
            <a:ext cx="9131300" cy="4572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652500" y="7416800"/>
            <a:ext cx="8496300" cy="51435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7564100" y="1397000"/>
            <a:ext cx="4572000" cy="266700"/>
          </a:xfrm>
          <a:prstGeom prst="rect">
            <a:avLst/>
          </a:prstGeom>
        </p:spPr>
        <p:txBody>
          <a:bodyPr anchor="ctr" rtlCol="false"/>
          <a:lstStyle/>
          <a:p>
            <a:pPr algn="r" lvl="0">
              <a:lnSpc>
                <a:spcPct val="124499"/>
              </a:lnSpc>
            </a:pPr>
            <a:r>
              <a:rPr lang="en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My Pet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16100" y="1384300"/>
            <a:ext cx="6096000" cy="2794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2025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오픈소스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개발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프로젝트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 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638800" y="1219200"/>
            <a:ext cx="12674600" cy="1155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5930900" y="1346200"/>
            <a:ext cx="12039600" cy="901700"/>
          </a:xfrm>
          <a:prstGeom prst="rect">
            <a:avLst/>
          </a:prstGeom>
        </p:spPr>
        <p:txBody>
          <a:bodyPr anchor="ctr" rtlCol="false" lIns="0" tIns="54186" rIns="0" bIns="54186"/>
          <a:lstStyle/>
          <a:p>
            <a:pPr algn="ctr" lvl="0">
              <a:lnSpc>
                <a:spcPct val="99600"/>
              </a:lnSpc>
            </a:pP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반려동물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포스팅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및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상호작용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기능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7D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520700"/>
            <a:ext cx="23495000" cy="1268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947400" y="3048000"/>
            <a:ext cx="10947400" cy="14605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960100" y="3098800"/>
            <a:ext cx="1485900" cy="10414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77800" y="3517900"/>
            <a:ext cx="7416800" cy="673100"/>
          </a:xfrm>
          <a:prstGeom prst="rect">
            <a:avLst/>
          </a:prstGeom>
        </p:spPr>
        <p:txBody>
          <a:bodyPr anchor="ctr" rtlCol="false" lIns="0" tIns="40639" rIns="0" bIns="40639"/>
          <a:lstStyle/>
          <a:p>
            <a:pPr algn="l" lvl="0">
              <a:lnSpc>
                <a:spcPct val="99600"/>
              </a:lnSpc>
            </a:pPr>
            <a:r>
              <a:rPr lang="ko-KR" sz="3199" b="true" i="false" u="none" strike="noStrike">
                <a:solidFill>
                  <a:srgbClr val="595959"/>
                </a:solidFill>
                <a:ea typeface="NanumGothic"/>
              </a:rPr>
              <a:t>포스트</a:t>
            </a:r>
            <a:r>
              <a:rPr lang="en-US" sz="3199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199" b="true" i="false" u="none" strike="noStrike">
                <a:solidFill>
                  <a:srgbClr val="595959"/>
                </a:solidFill>
                <a:ea typeface="NanumGothic"/>
              </a:rPr>
              <a:t>작성화면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16100" y="8318500"/>
            <a:ext cx="10947400" cy="14605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828800" y="8356600"/>
            <a:ext cx="1485900" cy="10414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46500" y="8788400"/>
            <a:ext cx="7416800" cy="673100"/>
          </a:xfrm>
          <a:prstGeom prst="rect">
            <a:avLst/>
          </a:prstGeom>
        </p:spPr>
        <p:txBody>
          <a:bodyPr anchor="ctr" rtlCol="false" lIns="0" tIns="40639" rIns="0" bIns="40639"/>
          <a:lstStyle/>
          <a:p>
            <a:pPr algn="l" lvl="0">
              <a:lnSpc>
                <a:spcPct val="99600"/>
              </a:lnSpc>
            </a:pPr>
            <a:r>
              <a:rPr lang="en" sz="3199" b="true" i="false" u="none" strike="noStrike">
                <a:solidFill>
                  <a:srgbClr val="595959"/>
                </a:solidFill>
                <a:ea typeface="NanumGothic"/>
              </a:rPr>
              <a:t>상호작용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63300" y="4978400"/>
            <a:ext cx="10515600" cy="1600200"/>
          </a:xfrm>
          <a:prstGeom prst="rect">
            <a:avLst/>
          </a:prstGeom>
        </p:spPr>
        <p:txBody>
          <a:bodyPr anchor="ctr" rtlCol="false"/>
          <a:lstStyle/>
          <a:p>
            <a:pPr algn="just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로그인한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사용자만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게시글을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작성할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수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있으며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텍스트와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이미지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(1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개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이상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)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를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첨부할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수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있다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.</a:t>
            </a:r>
          </a:p>
          <a:p>
            <a:pPr algn="just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사용자는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본인이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작성한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게시글을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수정하거나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삭제할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수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있다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2000" y="10185400"/>
            <a:ext cx="10706100" cy="1752600"/>
          </a:xfrm>
          <a:prstGeom prst="rect">
            <a:avLst/>
          </a:prstGeom>
        </p:spPr>
        <p:txBody>
          <a:bodyPr anchor="ctr" rtlCol="false"/>
          <a:lstStyle/>
          <a:p>
            <a:pPr algn="just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로그인한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사용자는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게시글에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댓글을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남기고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자신의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댓글을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관리할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수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있다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.</a:t>
            </a:r>
          </a:p>
          <a:p>
            <a:pPr algn="just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마음에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드는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게시글을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저장해두고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마이페이지에서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다시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확인할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수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있다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.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911600" y="2590800"/>
            <a:ext cx="3937000" cy="5511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566900" y="8102600"/>
            <a:ext cx="7061200" cy="42418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7564100" y="1397000"/>
            <a:ext cx="4572000" cy="266700"/>
          </a:xfrm>
          <a:prstGeom prst="rect">
            <a:avLst/>
          </a:prstGeom>
        </p:spPr>
        <p:txBody>
          <a:bodyPr anchor="ctr" rtlCol="false"/>
          <a:lstStyle/>
          <a:p>
            <a:pPr algn="r" lvl="0">
              <a:lnSpc>
                <a:spcPct val="124499"/>
              </a:lnSpc>
            </a:pPr>
            <a:r>
              <a:rPr lang="en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My Pet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16100" y="1384300"/>
            <a:ext cx="6096000" cy="2794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2025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오픈소스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개발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프로젝트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 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638800" y="1219200"/>
            <a:ext cx="12674600" cy="1155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5930900" y="1346200"/>
            <a:ext cx="12039600" cy="901700"/>
          </a:xfrm>
          <a:prstGeom prst="rect">
            <a:avLst/>
          </a:prstGeom>
        </p:spPr>
        <p:txBody>
          <a:bodyPr anchor="ctr" rtlCol="false" lIns="0" tIns="54186" rIns="0" bIns="54186"/>
          <a:lstStyle/>
          <a:p>
            <a:pPr algn="ctr" lvl="0">
              <a:lnSpc>
                <a:spcPct val="99600"/>
              </a:lnSpc>
            </a:pP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반려동물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포스팅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및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상호작용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기능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7D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520700"/>
            <a:ext cx="23495000" cy="1268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25600" y="4470400"/>
            <a:ext cx="9982200" cy="8026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344400" y="4470400"/>
            <a:ext cx="9982200" cy="8026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905000" y="4686300"/>
            <a:ext cx="1485900" cy="8763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98400" y="4686300"/>
            <a:ext cx="1485900" cy="8763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02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87600" y="6337300"/>
            <a:ext cx="8458200" cy="5753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20700" y="6146800"/>
            <a:ext cx="8216900" cy="55880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721100" y="5092700"/>
            <a:ext cx="2819400" cy="558800"/>
          </a:xfrm>
          <a:prstGeom prst="rect">
            <a:avLst/>
          </a:prstGeom>
        </p:spPr>
        <p:txBody>
          <a:bodyPr anchor="ctr" rtlCol="false" lIns="0" tIns="40640" rIns="0" bIns="40640"/>
          <a:lstStyle/>
          <a:p>
            <a:pPr algn="l" lvl="0">
              <a:lnSpc>
                <a:spcPct val="99600"/>
              </a:lnSpc>
            </a:pPr>
            <a:r>
              <a:rPr lang="ko-KR" sz="3200" b="true" i="false" u="none" strike="noStrike">
                <a:solidFill>
                  <a:srgbClr val="595959"/>
                </a:solidFill>
                <a:ea typeface="NanumGothic"/>
              </a:rPr>
              <a:t>메인</a:t>
            </a:r>
            <a:r>
              <a:rPr lang="en-US" sz="3200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200" b="true" i="false" u="none" strike="noStrike">
                <a:solidFill>
                  <a:srgbClr val="595959"/>
                </a:solidFill>
                <a:ea typeface="NanumGothic"/>
              </a:rPr>
              <a:t>홈</a:t>
            </a:r>
            <a:r>
              <a:rPr lang="en-US" sz="3200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200" b="true" i="false" u="none" strike="noStrike">
                <a:solidFill>
                  <a:srgbClr val="595959"/>
                </a:solidFill>
                <a:ea typeface="NanumGothic"/>
              </a:rPr>
              <a:t>아이콘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27200" y="5041900"/>
            <a:ext cx="2070100" cy="673100"/>
          </a:xfrm>
          <a:prstGeom prst="rect">
            <a:avLst/>
          </a:prstGeom>
        </p:spPr>
        <p:txBody>
          <a:bodyPr anchor="ctr" rtlCol="false" lIns="0" tIns="40640" rIns="0" bIns="40640"/>
          <a:lstStyle/>
          <a:p>
            <a:pPr algn="l" lvl="0">
              <a:lnSpc>
                <a:spcPct val="99600"/>
              </a:lnSpc>
            </a:pPr>
            <a:r>
              <a:rPr lang="en" sz="3200" b="true" i="false" u="none" strike="noStrike">
                <a:solidFill>
                  <a:srgbClr val="595959"/>
                </a:solidFill>
                <a:ea typeface="NanumGothic"/>
              </a:rPr>
              <a:t>상담화면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11900" y="3048000"/>
            <a:ext cx="11277600" cy="1003300"/>
          </a:xfrm>
          <a:prstGeom prst="rect">
            <a:avLst/>
          </a:prstGeom>
        </p:spPr>
        <p:txBody>
          <a:bodyPr anchor="ctr" rtlCol="false" lIns="0" tIns="17779" rIns="0" bIns="17779"/>
          <a:lstStyle/>
          <a:p>
            <a:pPr algn="ctr" lvl="0">
              <a:lnSpc>
                <a:spcPct val="107899"/>
              </a:lnSpc>
            </a:pP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간단한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반려동물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관련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상담에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대해</a:t>
            </a:r>
          </a:p>
          <a:p>
            <a:pPr algn="ctr" lvl="0">
              <a:lnSpc>
                <a:spcPct val="107899"/>
              </a:lnSpc>
            </a:pP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AI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기반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챗봇이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응답한다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564100" y="1397000"/>
            <a:ext cx="4572000" cy="266700"/>
          </a:xfrm>
          <a:prstGeom prst="rect">
            <a:avLst/>
          </a:prstGeom>
        </p:spPr>
        <p:txBody>
          <a:bodyPr anchor="ctr" rtlCol="false"/>
          <a:lstStyle/>
          <a:p>
            <a:pPr algn="r" lvl="0">
              <a:lnSpc>
                <a:spcPct val="124499"/>
              </a:lnSpc>
            </a:pPr>
            <a:r>
              <a:rPr lang="en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My Pet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16100" y="1384300"/>
            <a:ext cx="6096000" cy="2794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2025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오픈소스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개발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프로젝트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 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83400" y="1600200"/>
            <a:ext cx="10147300" cy="11557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5930900" y="1714500"/>
            <a:ext cx="12039600" cy="901700"/>
          </a:xfrm>
          <a:prstGeom prst="rect">
            <a:avLst/>
          </a:prstGeom>
        </p:spPr>
        <p:txBody>
          <a:bodyPr anchor="ctr" rtlCol="false" lIns="0" tIns="54186" rIns="0" bIns="54186"/>
          <a:lstStyle/>
          <a:p>
            <a:pPr algn="ctr" lvl="0">
              <a:lnSpc>
                <a:spcPct val="99600"/>
              </a:lnSpc>
            </a:pP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챗봇서비스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기능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7D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520700"/>
            <a:ext cx="23495000" cy="126873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7716500" y="1384300"/>
            <a:ext cx="4419600" cy="266700"/>
          </a:xfrm>
          <a:prstGeom prst="rect">
            <a:avLst/>
          </a:prstGeom>
        </p:spPr>
        <p:txBody>
          <a:bodyPr anchor="ctr" rtlCol="false"/>
          <a:lstStyle/>
          <a:p>
            <a:pPr algn="r" lvl="0">
              <a:lnSpc>
                <a:spcPct val="124499"/>
              </a:lnSpc>
            </a:pPr>
            <a:r>
              <a:rPr lang="en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My Pet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16100" y="1384300"/>
            <a:ext cx="5372100" cy="2667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2025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오픈소스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개발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프로젝트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 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457700" y="4876800"/>
            <a:ext cx="15481300" cy="7391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311900" y="3048000"/>
            <a:ext cx="11290300" cy="1460500"/>
          </a:xfrm>
          <a:prstGeom prst="rect">
            <a:avLst/>
          </a:prstGeom>
        </p:spPr>
        <p:txBody>
          <a:bodyPr anchor="ctr" rtlCol="false" lIns="0" tIns="17779" rIns="0" bIns="17779"/>
          <a:lstStyle/>
          <a:p>
            <a:pPr algn="ctr" lvl="0">
              <a:lnSpc>
                <a:spcPct val="107899"/>
              </a:lnSpc>
            </a:pP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사용자의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현재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위치를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기반으로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 </a:t>
            </a:r>
          </a:p>
          <a:p>
            <a:pPr algn="ctr" lvl="0">
              <a:lnSpc>
                <a:spcPct val="107899"/>
              </a:lnSpc>
            </a:pP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가까운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동물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병원의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정보들을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지도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   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상에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표시한다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.
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883400" y="1638300"/>
            <a:ext cx="10147300" cy="1155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5943600" y="1739900"/>
            <a:ext cx="12039600" cy="939800"/>
          </a:xfrm>
          <a:prstGeom prst="rect">
            <a:avLst/>
          </a:prstGeom>
        </p:spPr>
        <p:txBody>
          <a:bodyPr anchor="ctr" rtlCol="false" lIns="0" tIns="54186" rIns="0" bIns="54186"/>
          <a:lstStyle/>
          <a:p>
            <a:pPr algn="ctr" lvl="0">
              <a:lnSpc>
                <a:spcPct val="99600"/>
              </a:lnSpc>
            </a:pP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인근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동물병원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위치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제공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기능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7D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520700"/>
            <a:ext cx="23495000" cy="1268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25600" y="4470400"/>
            <a:ext cx="9982200" cy="8026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344400" y="4470400"/>
            <a:ext cx="9982200" cy="8026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905000" y="4686300"/>
            <a:ext cx="1485900" cy="8763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98400" y="4686300"/>
            <a:ext cx="1485900" cy="8763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716500" y="1384300"/>
            <a:ext cx="4419600" cy="266700"/>
          </a:xfrm>
          <a:prstGeom prst="rect">
            <a:avLst/>
          </a:prstGeom>
        </p:spPr>
        <p:txBody>
          <a:bodyPr anchor="ctr" rtlCol="false"/>
          <a:lstStyle/>
          <a:p>
            <a:pPr algn="r" lvl="0">
              <a:lnSpc>
                <a:spcPct val="124499"/>
              </a:lnSpc>
            </a:pPr>
            <a:r>
              <a:rPr lang="en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My Pet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16100" y="1384300"/>
            <a:ext cx="5372100" cy="2667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2025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오픈소스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개발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프로젝트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 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514600" y="6146800"/>
            <a:ext cx="8216900" cy="558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20700" y="6159500"/>
            <a:ext cx="8216900" cy="5588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3746500" y="5130800"/>
            <a:ext cx="1993900" cy="495300"/>
          </a:xfrm>
          <a:prstGeom prst="rect">
            <a:avLst/>
          </a:prstGeom>
        </p:spPr>
        <p:txBody>
          <a:bodyPr anchor="ctr" rtlCol="false" lIns="0" tIns="35559" rIns="0" bIns="35559"/>
          <a:lstStyle/>
          <a:p>
            <a:pPr algn="l" lvl="0">
              <a:lnSpc>
                <a:spcPct val="99600"/>
              </a:lnSpc>
            </a:pPr>
            <a:r>
              <a:rPr lang="en" sz="2799" b="true" i="false" u="none" strike="noStrike">
                <a:solidFill>
                  <a:srgbClr val="595959"/>
                </a:solidFill>
                <a:ea typeface="NanumGothic"/>
              </a:rPr>
              <a:t>목록페이지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490700" y="5029200"/>
            <a:ext cx="1993900" cy="685800"/>
          </a:xfrm>
          <a:prstGeom prst="rect">
            <a:avLst/>
          </a:prstGeom>
        </p:spPr>
        <p:txBody>
          <a:bodyPr anchor="ctr" rtlCol="false" lIns="0" tIns="35559" rIns="0" bIns="35559"/>
          <a:lstStyle/>
          <a:p>
            <a:pPr algn="l" lvl="0">
              <a:lnSpc>
                <a:spcPct val="99600"/>
              </a:lnSpc>
            </a:pPr>
            <a:r>
              <a:rPr lang="en" sz="2799" b="true" i="false" u="none" strike="noStrike">
                <a:solidFill>
                  <a:srgbClr val="595959"/>
                </a:solidFill>
                <a:ea typeface="NanumGothic"/>
              </a:rPr>
              <a:t>채팅방화면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83300" y="3086100"/>
            <a:ext cx="11290300" cy="1003300"/>
          </a:xfrm>
          <a:prstGeom prst="rect">
            <a:avLst/>
          </a:prstGeom>
        </p:spPr>
        <p:txBody>
          <a:bodyPr anchor="ctr" rtlCol="false" lIns="0" tIns="17779" rIns="0" bIns="17779"/>
          <a:lstStyle/>
          <a:p>
            <a:pPr algn="ctr" lvl="0">
              <a:lnSpc>
                <a:spcPct val="107899"/>
              </a:lnSpc>
            </a:pP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실시간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채팅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기능을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바탕으로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산책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모임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또는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소규모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모임을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구성하여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맞춤형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 </a:t>
            </a:r>
          </a:p>
          <a:p>
            <a:pPr algn="ctr" lvl="0">
              <a:lnSpc>
                <a:spcPct val="107899"/>
              </a:lnSpc>
            </a:pP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소통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 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공간을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제공한다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.
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83400" y="1600200"/>
            <a:ext cx="10147300" cy="11557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6172200" y="1701800"/>
            <a:ext cx="12039600" cy="939800"/>
          </a:xfrm>
          <a:prstGeom prst="rect">
            <a:avLst/>
          </a:prstGeom>
        </p:spPr>
        <p:txBody>
          <a:bodyPr anchor="ctr" rtlCol="false" lIns="0" tIns="54186" rIns="0" bIns="54186"/>
          <a:lstStyle/>
          <a:p>
            <a:pPr algn="ctr" lvl="0">
              <a:lnSpc>
                <a:spcPct val="99600"/>
              </a:lnSpc>
            </a:pP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실시간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채팅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및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산책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모임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구성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기능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7D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520700"/>
            <a:ext cx="23495000" cy="1268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201400" y="5537200"/>
            <a:ext cx="10947400" cy="14605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201400" y="5588000"/>
            <a:ext cx="1485900" cy="10414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19100" y="6007100"/>
            <a:ext cx="7416800" cy="673100"/>
          </a:xfrm>
          <a:prstGeom prst="rect">
            <a:avLst/>
          </a:prstGeom>
        </p:spPr>
        <p:txBody>
          <a:bodyPr anchor="ctr" rtlCol="false" lIns="0" tIns="40639" rIns="0" bIns="40639"/>
          <a:lstStyle/>
          <a:p>
            <a:pPr algn="l" lvl="0">
              <a:lnSpc>
                <a:spcPct val="99600"/>
              </a:lnSpc>
            </a:pPr>
            <a:r>
              <a:rPr lang="ko-KR" sz="3199" b="true" i="false" u="none" strike="noStrike">
                <a:solidFill>
                  <a:srgbClr val="595959"/>
                </a:solidFill>
                <a:ea typeface="NanumGothic"/>
              </a:rPr>
              <a:t>안질환</a:t>
            </a:r>
            <a:r>
              <a:rPr lang="en-US" sz="3199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199" b="true" i="false" u="none" strike="noStrike">
                <a:solidFill>
                  <a:srgbClr val="595959"/>
                </a:solidFill>
                <a:ea typeface="NanumGothic"/>
              </a:rPr>
              <a:t>분석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04600" y="7454900"/>
            <a:ext cx="10515600" cy="2222500"/>
          </a:xfrm>
          <a:prstGeom prst="rect">
            <a:avLst/>
          </a:prstGeom>
        </p:spPr>
        <p:txBody>
          <a:bodyPr anchor="ctr" rtlCol="false"/>
          <a:lstStyle/>
          <a:p>
            <a:pPr algn="just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사용자는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반려견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/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반려묘의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눈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사진과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증상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(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눈물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충혈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가려움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등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)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작성한다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.</a:t>
            </a:r>
          </a:p>
          <a:p>
            <a:pPr algn="just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받은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정보에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대해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Ai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분석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모델이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이미지를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분석하여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의심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질환을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분석해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확률값으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   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로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제공하고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증상을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요약한다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564100" y="1397000"/>
            <a:ext cx="4572000" cy="266700"/>
          </a:xfrm>
          <a:prstGeom prst="rect">
            <a:avLst/>
          </a:prstGeom>
        </p:spPr>
        <p:txBody>
          <a:bodyPr anchor="ctr" rtlCol="false"/>
          <a:lstStyle/>
          <a:p>
            <a:pPr algn="r" lvl="0">
              <a:lnSpc>
                <a:spcPct val="124499"/>
              </a:lnSpc>
            </a:pPr>
            <a:r>
              <a:rPr lang="en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My Pet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16100" y="1384300"/>
            <a:ext cx="6096000" cy="2794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2025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오픈소스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개발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프로젝트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 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854700" y="1257300"/>
            <a:ext cx="12674600" cy="11557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5981700" y="1371600"/>
            <a:ext cx="12293600" cy="914400"/>
          </a:xfrm>
          <a:prstGeom prst="rect">
            <a:avLst/>
          </a:prstGeom>
        </p:spPr>
        <p:txBody>
          <a:bodyPr anchor="ctr" rtlCol="false" lIns="0" tIns="54186" rIns="0" bIns="54186"/>
          <a:lstStyle/>
          <a:p>
            <a:pPr algn="ctr" lvl="0">
              <a:lnSpc>
                <a:spcPct val="99600"/>
              </a:lnSpc>
            </a:pPr>
            <a:r>
              <a:rPr lang="ko-KR" sz="4357" b="true" i="false" u="none" strike="noStrike">
                <a:solidFill>
                  <a:srgbClr val="595959"/>
                </a:solidFill>
                <a:ea typeface="NanumGothic"/>
              </a:rPr>
              <a:t>강아지</a:t>
            </a:r>
            <a:r>
              <a:rPr lang="en-US" sz="4357" b="true" i="false" u="none" strike="noStrike">
                <a:solidFill>
                  <a:srgbClr val="595959"/>
                </a:solidFill>
                <a:latin typeface="NanumGothic"/>
              </a:rPr>
              <a:t>·</a:t>
            </a:r>
            <a:r>
              <a:rPr lang="ko-KR" sz="4357" b="true" i="false" u="none" strike="noStrike">
                <a:solidFill>
                  <a:srgbClr val="595959"/>
                </a:solidFill>
                <a:ea typeface="NanumGothic"/>
              </a:rPr>
              <a:t>고양이</a:t>
            </a:r>
            <a:r>
              <a:rPr lang="en-US" sz="4357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357" b="true" i="false" u="none" strike="noStrike">
                <a:solidFill>
                  <a:srgbClr val="595959"/>
                </a:solidFill>
                <a:ea typeface="NanumGothic"/>
              </a:rPr>
              <a:t>안질환</a:t>
            </a:r>
            <a:r>
              <a:rPr lang="en-US" sz="4357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357" b="true" i="false" u="none" strike="noStrike">
                <a:solidFill>
                  <a:srgbClr val="595959"/>
                </a:solidFill>
                <a:ea typeface="NanumGothic"/>
              </a:rPr>
              <a:t>분석</a:t>
            </a:r>
            <a:r>
              <a:rPr lang="en-US" sz="4357" b="true" i="false" u="none" strike="noStrike">
                <a:solidFill>
                  <a:srgbClr val="595959"/>
                </a:solidFill>
                <a:latin typeface="NanumGothic"/>
              </a:rPr>
              <a:t> &amp; </a:t>
            </a:r>
            <a:r>
              <a:rPr lang="ko-KR" sz="4357" b="true" i="false" u="none" strike="noStrike">
                <a:solidFill>
                  <a:srgbClr val="595959"/>
                </a:solidFill>
                <a:ea typeface="NanumGothic"/>
              </a:rPr>
              <a:t>카카오톡</a:t>
            </a:r>
            <a:r>
              <a:rPr lang="en-US" sz="4357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357" b="true" i="false" u="none" strike="noStrike">
                <a:solidFill>
                  <a:srgbClr val="595959"/>
                </a:solidFill>
                <a:ea typeface="NanumGothic"/>
              </a:rPr>
              <a:t>알림</a:t>
            </a:r>
            <a:r>
              <a:rPr lang="en-US" sz="4357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357" b="true" i="false" u="none" strike="noStrike">
                <a:solidFill>
                  <a:srgbClr val="595959"/>
                </a:solidFill>
                <a:ea typeface="NanumGothic"/>
              </a:rPr>
              <a:t>기능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76400" y="2667000"/>
            <a:ext cx="8369300" cy="10210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7D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520700"/>
            <a:ext cx="23495000" cy="1268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947400" y="3060700"/>
            <a:ext cx="10947400" cy="14605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960100" y="3111500"/>
            <a:ext cx="1485900" cy="10414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77800" y="3517900"/>
            <a:ext cx="7416800" cy="673100"/>
          </a:xfrm>
          <a:prstGeom prst="rect">
            <a:avLst/>
          </a:prstGeom>
        </p:spPr>
        <p:txBody>
          <a:bodyPr anchor="ctr" rtlCol="false" lIns="0" tIns="40639" rIns="0" bIns="40639"/>
          <a:lstStyle/>
          <a:p>
            <a:pPr algn="l" lvl="0">
              <a:lnSpc>
                <a:spcPct val="99600"/>
              </a:lnSpc>
            </a:pPr>
            <a:r>
              <a:rPr lang="ko-KR" sz="3199" b="true" i="false" u="none" strike="noStrike">
                <a:solidFill>
                  <a:srgbClr val="595959"/>
                </a:solidFill>
                <a:ea typeface="NanumGothic"/>
              </a:rPr>
              <a:t>안질환</a:t>
            </a:r>
            <a:r>
              <a:rPr lang="en-US" sz="3199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199" b="true" i="false" u="none" strike="noStrike">
                <a:solidFill>
                  <a:srgbClr val="595959"/>
                </a:solidFill>
                <a:ea typeface="NanumGothic"/>
              </a:rPr>
              <a:t>분석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16100" y="8953500"/>
            <a:ext cx="10947400" cy="14605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82800" y="9004300"/>
            <a:ext cx="965200" cy="10414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46500" y="9423400"/>
            <a:ext cx="7416800" cy="673100"/>
          </a:xfrm>
          <a:prstGeom prst="rect">
            <a:avLst/>
          </a:prstGeom>
        </p:spPr>
        <p:txBody>
          <a:bodyPr anchor="ctr" rtlCol="false" lIns="0" tIns="40639" rIns="0" bIns="40639"/>
          <a:lstStyle/>
          <a:p>
            <a:pPr algn="l" lvl="0">
              <a:lnSpc>
                <a:spcPct val="99600"/>
              </a:lnSpc>
            </a:pPr>
            <a:r>
              <a:rPr lang="ko-KR" sz="3199" b="true" i="false" u="none" strike="noStrike">
                <a:solidFill>
                  <a:srgbClr val="595959"/>
                </a:solidFill>
                <a:ea typeface="NanumGothic"/>
              </a:rPr>
              <a:t>카카오톡</a:t>
            </a:r>
            <a:r>
              <a:rPr lang="en-US" sz="3199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199" b="true" i="false" u="none" strike="noStrike">
                <a:solidFill>
                  <a:srgbClr val="595959"/>
                </a:solidFill>
                <a:ea typeface="NanumGothic"/>
              </a:rPr>
              <a:t>알림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63300" y="4965700"/>
            <a:ext cx="10515600" cy="2222500"/>
          </a:xfrm>
          <a:prstGeom prst="rect">
            <a:avLst/>
          </a:prstGeom>
        </p:spPr>
        <p:txBody>
          <a:bodyPr anchor="ctr" rtlCol="false"/>
          <a:lstStyle/>
          <a:p>
            <a:pPr algn="just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사용자는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반려견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/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반려묘의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눈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사진과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증상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(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눈물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충혈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가려움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등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)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작성한다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.</a:t>
            </a:r>
          </a:p>
          <a:p>
            <a:pPr algn="just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받은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정보에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대해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Ai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분석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모델이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이미지를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분석하여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의심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질환을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분석해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확률값으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   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로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제공하고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증상을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요약한다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32000" y="10947400"/>
            <a:ext cx="10515600" cy="977900"/>
          </a:xfrm>
          <a:prstGeom prst="rect">
            <a:avLst/>
          </a:prstGeom>
        </p:spPr>
        <p:txBody>
          <a:bodyPr anchor="ctr" rtlCol="false"/>
          <a:lstStyle/>
          <a:p>
            <a:pPr algn="just" lvl="1" indent="-342900" marL="342900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분석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결과는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“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요약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진단서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”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형태로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정리되며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카카오톡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“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나에게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보내기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”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를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   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통해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사용자에게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933" b="false" i="false" u="none" strike="noStrike">
                <a:solidFill>
                  <a:srgbClr val="595959"/>
                </a:solidFill>
                <a:ea typeface="Pretendard Regular"/>
              </a:rPr>
              <a:t>전송된다</a:t>
            </a:r>
            <a:r>
              <a:rPr lang="en-US" sz="2933" b="false" i="false" u="none" strike="noStrike">
                <a:solidFill>
                  <a:srgbClr val="595959"/>
                </a:solidFill>
                <a:latin typeface="Pretendard Regular"/>
              </a:rPr>
              <a:t>.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16100" y="2959100"/>
            <a:ext cx="8496300" cy="5791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652500" y="8318500"/>
            <a:ext cx="8496300" cy="42418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7564100" y="1397000"/>
            <a:ext cx="4572000" cy="266700"/>
          </a:xfrm>
          <a:prstGeom prst="rect">
            <a:avLst/>
          </a:prstGeom>
        </p:spPr>
        <p:txBody>
          <a:bodyPr anchor="ctr" rtlCol="false"/>
          <a:lstStyle/>
          <a:p>
            <a:pPr algn="r" lvl="0">
              <a:lnSpc>
                <a:spcPct val="124499"/>
              </a:lnSpc>
            </a:pPr>
            <a:r>
              <a:rPr lang="en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My Pet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16100" y="1384300"/>
            <a:ext cx="6096000" cy="2794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2025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오픈소스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개발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프로젝트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 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854700" y="1257300"/>
            <a:ext cx="12674600" cy="1155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5981700" y="1371600"/>
            <a:ext cx="12293600" cy="914400"/>
          </a:xfrm>
          <a:prstGeom prst="rect">
            <a:avLst/>
          </a:prstGeom>
        </p:spPr>
        <p:txBody>
          <a:bodyPr anchor="ctr" rtlCol="false" lIns="0" tIns="54186" rIns="0" bIns="54186"/>
          <a:lstStyle/>
          <a:p>
            <a:pPr algn="ctr" lvl="0">
              <a:lnSpc>
                <a:spcPct val="99600"/>
              </a:lnSpc>
            </a:pPr>
            <a:r>
              <a:rPr lang="ko-KR" sz="4357" b="true" i="false" u="none" strike="noStrike">
                <a:solidFill>
                  <a:srgbClr val="595959"/>
                </a:solidFill>
                <a:ea typeface="NanumGothic"/>
              </a:rPr>
              <a:t>강아지</a:t>
            </a:r>
            <a:r>
              <a:rPr lang="en-US" sz="4357" b="true" i="false" u="none" strike="noStrike">
                <a:solidFill>
                  <a:srgbClr val="595959"/>
                </a:solidFill>
                <a:latin typeface="NanumGothic"/>
              </a:rPr>
              <a:t>·</a:t>
            </a:r>
            <a:r>
              <a:rPr lang="ko-KR" sz="4357" b="true" i="false" u="none" strike="noStrike">
                <a:solidFill>
                  <a:srgbClr val="595959"/>
                </a:solidFill>
                <a:ea typeface="NanumGothic"/>
              </a:rPr>
              <a:t>고양이</a:t>
            </a:r>
            <a:r>
              <a:rPr lang="en-US" sz="4357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357" b="true" i="false" u="none" strike="noStrike">
                <a:solidFill>
                  <a:srgbClr val="595959"/>
                </a:solidFill>
                <a:ea typeface="NanumGothic"/>
              </a:rPr>
              <a:t>안질환</a:t>
            </a:r>
            <a:r>
              <a:rPr lang="en-US" sz="4357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357" b="true" i="false" u="none" strike="noStrike">
                <a:solidFill>
                  <a:srgbClr val="595959"/>
                </a:solidFill>
                <a:ea typeface="NanumGothic"/>
              </a:rPr>
              <a:t>분석</a:t>
            </a:r>
            <a:r>
              <a:rPr lang="en-US" sz="4357" b="true" i="false" u="none" strike="noStrike">
                <a:solidFill>
                  <a:srgbClr val="595959"/>
                </a:solidFill>
                <a:latin typeface="NanumGothic"/>
              </a:rPr>
              <a:t> &amp; </a:t>
            </a:r>
            <a:r>
              <a:rPr lang="ko-KR" sz="4357" b="true" i="false" u="none" strike="noStrike">
                <a:solidFill>
                  <a:srgbClr val="595959"/>
                </a:solidFill>
                <a:ea typeface="NanumGothic"/>
              </a:rPr>
              <a:t>카카오톡</a:t>
            </a:r>
            <a:r>
              <a:rPr lang="en-US" sz="4357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357" b="true" i="false" u="none" strike="noStrike">
                <a:solidFill>
                  <a:srgbClr val="595959"/>
                </a:solidFill>
                <a:ea typeface="NanumGothic"/>
              </a:rPr>
              <a:t>알림</a:t>
            </a:r>
            <a:r>
              <a:rPr lang="en-US" sz="4357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357" b="true" i="false" u="none" strike="noStrike">
                <a:solidFill>
                  <a:srgbClr val="595959"/>
                </a:solidFill>
                <a:ea typeface="NanumGothic"/>
              </a:rPr>
              <a:t>기능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7D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520700"/>
            <a:ext cx="23495000" cy="1268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25600" y="4470400"/>
            <a:ext cx="9982200" cy="8026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344400" y="4470400"/>
            <a:ext cx="9982200" cy="8026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905000" y="4686300"/>
            <a:ext cx="1485900" cy="8763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98400" y="4686300"/>
            <a:ext cx="1485900" cy="8763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4993" b="true" i="false" u="none" strike="noStrike">
                <a:solidFill>
                  <a:srgbClr val="595959"/>
                </a:solidFill>
                <a:latin typeface="NanumGothic"/>
              </a:rPr>
              <a:t>02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514600" y="6146800"/>
            <a:ext cx="8216900" cy="558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220700" y="6146800"/>
            <a:ext cx="8216900" cy="55880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746500" y="5130800"/>
            <a:ext cx="1993900" cy="495300"/>
          </a:xfrm>
          <a:prstGeom prst="rect">
            <a:avLst/>
          </a:prstGeom>
        </p:spPr>
        <p:txBody>
          <a:bodyPr anchor="ctr" rtlCol="false" lIns="0" tIns="35559" rIns="0" bIns="35559"/>
          <a:lstStyle/>
          <a:p>
            <a:pPr algn="l" lvl="0">
              <a:lnSpc>
                <a:spcPct val="99600"/>
              </a:lnSpc>
            </a:pPr>
            <a:r>
              <a:rPr lang="en" sz="2799" b="true" i="false" u="none" strike="noStrike">
                <a:solidFill>
                  <a:srgbClr val="595959"/>
                </a:solidFill>
                <a:ea typeface="NanumGothic"/>
              </a:rPr>
              <a:t>목록페이지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90700" y="5080000"/>
            <a:ext cx="1993900" cy="584200"/>
          </a:xfrm>
          <a:prstGeom prst="rect">
            <a:avLst/>
          </a:prstGeom>
        </p:spPr>
        <p:txBody>
          <a:bodyPr anchor="ctr" rtlCol="false" lIns="0" tIns="35559" rIns="0" bIns="35559"/>
          <a:lstStyle/>
          <a:p>
            <a:pPr algn="l" lvl="0">
              <a:lnSpc>
                <a:spcPct val="99600"/>
              </a:lnSpc>
            </a:pPr>
            <a:r>
              <a:rPr lang="en" sz="2799" b="true" i="false" u="none" strike="noStrike">
                <a:solidFill>
                  <a:srgbClr val="595959"/>
                </a:solidFill>
                <a:ea typeface="NanumGothic"/>
              </a:rPr>
              <a:t>상세페이지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64100" y="1397000"/>
            <a:ext cx="4572000" cy="266700"/>
          </a:xfrm>
          <a:prstGeom prst="rect">
            <a:avLst/>
          </a:prstGeom>
        </p:spPr>
        <p:txBody>
          <a:bodyPr anchor="ctr" rtlCol="false"/>
          <a:lstStyle/>
          <a:p>
            <a:pPr algn="r" lvl="0">
              <a:lnSpc>
                <a:spcPct val="124499"/>
              </a:lnSpc>
            </a:pPr>
            <a:r>
              <a:rPr lang="en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My Pet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16100" y="1384300"/>
            <a:ext cx="6096000" cy="2794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2025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오픈소스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개발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프로젝트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 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11900" y="3111500"/>
            <a:ext cx="11277600" cy="1003300"/>
          </a:xfrm>
          <a:prstGeom prst="rect">
            <a:avLst/>
          </a:prstGeom>
        </p:spPr>
        <p:txBody>
          <a:bodyPr anchor="ctr" rtlCol="false" lIns="0" tIns="17779" rIns="0" bIns="17779"/>
          <a:lstStyle/>
          <a:p>
            <a:pPr algn="ctr" lvl="0">
              <a:lnSpc>
                <a:spcPct val="107899"/>
              </a:lnSpc>
            </a:pP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전국에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흩어져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있는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유기동물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입양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정보를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 </a:t>
            </a:r>
          </a:p>
          <a:p>
            <a:pPr algn="ctr" lvl="0">
              <a:lnSpc>
                <a:spcPct val="107899"/>
              </a:lnSpc>
            </a:pP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공공데이터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API    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를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통해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자동으로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모아서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2799" b="false" i="false" u="none" strike="noStrike">
                <a:solidFill>
                  <a:srgbClr val="595959"/>
                </a:solidFill>
                <a:ea typeface="Pretendard Regular"/>
              </a:rPr>
              <a:t>제공한다</a:t>
            </a:r>
            <a:r>
              <a:rPr lang="en-US" sz="2799" b="false" i="false" u="none" strike="noStrike">
                <a:solidFill>
                  <a:srgbClr val="595959"/>
                </a:solidFill>
                <a:latin typeface="Pretendard Regular"/>
              </a:rPr>
              <a:t>.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83400" y="1625600"/>
            <a:ext cx="10147300" cy="11557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5930900" y="1714500"/>
            <a:ext cx="12039600" cy="901700"/>
          </a:xfrm>
          <a:prstGeom prst="rect">
            <a:avLst/>
          </a:prstGeom>
        </p:spPr>
        <p:txBody>
          <a:bodyPr anchor="ctr" rtlCol="false" lIns="0" tIns="54186" rIns="0" bIns="54186"/>
          <a:lstStyle/>
          <a:p>
            <a:pPr algn="ctr" lvl="0">
              <a:lnSpc>
                <a:spcPct val="99600"/>
              </a:lnSpc>
            </a:pP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유기동물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입양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정보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통합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조회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기능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7D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520700"/>
            <a:ext cx="23495000" cy="1268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975100" y="3251200"/>
            <a:ext cx="16433800" cy="1993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975100" y="5676900"/>
            <a:ext cx="16433800" cy="1993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975100" y="8153400"/>
            <a:ext cx="16433800" cy="1993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975100" y="10617200"/>
            <a:ext cx="16433800" cy="19939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127500" y="3708400"/>
            <a:ext cx="1676400" cy="9525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5372" b="true" i="false" u="none" strike="noStrike">
                <a:solidFill>
                  <a:srgbClr val="595959"/>
                </a:solidFill>
                <a:latin typeface="NanumGothic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27500" y="6057900"/>
            <a:ext cx="1676400" cy="11303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5372" b="true" i="false" u="none" strike="noStrike">
                <a:solidFill>
                  <a:srgbClr val="595959"/>
                </a:solidFill>
                <a:latin typeface="NanumGothic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57700" y="8521700"/>
            <a:ext cx="1028700" cy="1130300"/>
          </a:xfrm>
          <a:prstGeom prst="rect">
            <a:avLst/>
          </a:prstGeom>
        </p:spPr>
        <p:txBody>
          <a:bodyPr anchor="ctr" rtlCol="false" lIns="0" tIns="68233" rIns="0" bIns="68233"/>
          <a:lstStyle/>
          <a:p>
            <a:pPr algn="ctr" lvl="0">
              <a:lnSpc>
                <a:spcPct val="99600"/>
              </a:lnSpc>
            </a:pPr>
            <a:r>
              <a:rPr lang="en" sz="5372" b="true" i="false" u="none" strike="noStrike">
                <a:solidFill>
                  <a:srgbClr val="595959"/>
                </a:solidFill>
                <a:latin typeface="NanumGothic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27500" y="10985500"/>
            <a:ext cx="1676400" cy="11303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5372" b="true" i="false" u="none" strike="noStrike">
                <a:solidFill>
                  <a:srgbClr val="595959"/>
                </a:solidFill>
                <a:latin typeface="NanumGothic"/>
              </a:rPr>
              <a:t>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21500" y="3581400"/>
            <a:ext cx="7607300" cy="673100"/>
          </a:xfrm>
          <a:prstGeom prst="rect">
            <a:avLst/>
          </a:prstGeom>
        </p:spPr>
        <p:txBody>
          <a:bodyPr anchor="ctr" rtlCol="false" lIns="0" tIns="48419" rIns="0" bIns="48419"/>
          <a:lstStyle/>
          <a:p>
            <a:pPr algn="l" lvl="0">
              <a:lnSpc>
                <a:spcPct val="99600"/>
              </a:lnSpc>
            </a:pPr>
            <a:r>
              <a:rPr lang="ko-KR" sz="3811" b="true" i="false" u="none" strike="noStrike">
                <a:solidFill>
                  <a:srgbClr val="595959"/>
                </a:solidFill>
                <a:ea typeface="NanumGothic"/>
              </a:rPr>
              <a:t>반려동물</a:t>
            </a:r>
            <a:r>
              <a:rPr lang="en-US" sz="3811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811" b="true" i="false" u="none" strike="noStrike">
                <a:solidFill>
                  <a:srgbClr val="595959"/>
                </a:solidFill>
                <a:ea typeface="NanumGothic"/>
              </a:rPr>
              <a:t>진단</a:t>
            </a:r>
            <a:r>
              <a:rPr lang="en-US" sz="3811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811" b="true" i="false" u="none" strike="noStrike">
                <a:solidFill>
                  <a:srgbClr val="595959"/>
                </a:solidFill>
                <a:ea typeface="NanumGothic"/>
              </a:rPr>
              <a:t>편의성</a:t>
            </a:r>
            <a:r>
              <a:rPr lang="en-US" sz="3811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811" b="true" i="false" u="none" strike="noStrike">
                <a:solidFill>
                  <a:srgbClr val="595959"/>
                </a:solidFill>
                <a:ea typeface="NanumGothic"/>
              </a:rPr>
              <a:t>향상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21500" y="5943600"/>
            <a:ext cx="7607300" cy="800100"/>
          </a:xfrm>
          <a:prstGeom prst="rect">
            <a:avLst/>
          </a:prstGeom>
        </p:spPr>
        <p:txBody>
          <a:bodyPr anchor="ctr" rtlCol="false" lIns="0" tIns="48419" rIns="0" bIns="48419"/>
          <a:lstStyle/>
          <a:p>
            <a:pPr algn="l" lvl="0">
              <a:lnSpc>
                <a:spcPct val="99600"/>
              </a:lnSpc>
            </a:pPr>
            <a:r>
              <a:rPr lang="ko-KR" sz="3811" b="true" i="false" u="none" strike="noStrike">
                <a:solidFill>
                  <a:srgbClr val="595959"/>
                </a:solidFill>
                <a:ea typeface="NanumGothic"/>
              </a:rPr>
              <a:t>정보</a:t>
            </a:r>
            <a:r>
              <a:rPr lang="en-US" sz="3811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811" b="true" i="false" u="none" strike="noStrike">
                <a:solidFill>
                  <a:srgbClr val="595959"/>
                </a:solidFill>
                <a:ea typeface="NanumGothic"/>
              </a:rPr>
              <a:t>접근성</a:t>
            </a:r>
            <a:r>
              <a:rPr lang="en-US" sz="3811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811" b="true" i="false" u="none" strike="noStrike">
                <a:solidFill>
                  <a:srgbClr val="595959"/>
                </a:solidFill>
                <a:ea typeface="NanumGothic"/>
              </a:rPr>
              <a:t>개선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21500" y="8407400"/>
            <a:ext cx="7607300" cy="800100"/>
          </a:xfrm>
          <a:prstGeom prst="rect">
            <a:avLst/>
          </a:prstGeom>
        </p:spPr>
        <p:txBody>
          <a:bodyPr anchor="ctr" rtlCol="false" lIns="0" tIns="48419" rIns="0" bIns="48419"/>
          <a:lstStyle/>
          <a:p>
            <a:pPr algn="l" lvl="0">
              <a:lnSpc>
                <a:spcPct val="99600"/>
              </a:lnSpc>
            </a:pPr>
            <a:r>
              <a:rPr lang="ko-KR" sz="3811" b="true" i="false" u="none" strike="noStrike">
                <a:solidFill>
                  <a:srgbClr val="595959"/>
                </a:solidFill>
                <a:ea typeface="NanumGothic"/>
              </a:rPr>
              <a:t>반려인</a:t>
            </a:r>
            <a:r>
              <a:rPr lang="en-US" sz="3811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811" b="true" i="false" u="none" strike="noStrike">
                <a:solidFill>
                  <a:srgbClr val="595959"/>
                </a:solidFill>
                <a:ea typeface="NanumGothic"/>
              </a:rPr>
              <a:t>커뮤니티</a:t>
            </a:r>
            <a:r>
              <a:rPr lang="en-US" sz="3811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811" b="true" i="false" u="none" strike="noStrike">
                <a:solidFill>
                  <a:srgbClr val="595959"/>
                </a:solidFill>
                <a:ea typeface="NanumGothic"/>
              </a:rPr>
              <a:t>강화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21500" y="10871200"/>
            <a:ext cx="7607300" cy="800100"/>
          </a:xfrm>
          <a:prstGeom prst="rect">
            <a:avLst/>
          </a:prstGeom>
        </p:spPr>
        <p:txBody>
          <a:bodyPr anchor="ctr" rtlCol="false" lIns="0" tIns="48419" rIns="0" bIns="48419"/>
          <a:lstStyle/>
          <a:p>
            <a:pPr algn="l" lvl="0">
              <a:lnSpc>
                <a:spcPct val="99600"/>
              </a:lnSpc>
            </a:pPr>
            <a:r>
              <a:rPr lang="ko-KR" sz="3811" b="true" i="false" u="none" strike="noStrike">
                <a:solidFill>
                  <a:srgbClr val="595959"/>
                </a:solidFill>
                <a:ea typeface="NanumGothic"/>
              </a:rPr>
              <a:t>데이터</a:t>
            </a:r>
            <a:r>
              <a:rPr lang="en-US" sz="3811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811" b="true" i="false" u="none" strike="noStrike">
                <a:solidFill>
                  <a:srgbClr val="595959"/>
                </a:solidFill>
                <a:ea typeface="NanumGothic"/>
              </a:rPr>
              <a:t>기반</a:t>
            </a:r>
            <a:r>
              <a:rPr lang="en-US" sz="3811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811" b="true" i="false" u="none" strike="noStrike">
                <a:solidFill>
                  <a:srgbClr val="595959"/>
                </a:solidFill>
                <a:ea typeface="NanumGothic"/>
              </a:rPr>
              <a:t>서비스</a:t>
            </a:r>
            <a:r>
              <a:rPr lang="en-US" sz="3811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811" b="true" i="false" u="none" strike="noStrike">
                <a:solidFill>
                  <a:srgbClr val="595959"/>
                </a:solidFill>
                <a:ea typeface="NanumGothic"/>
              </a:rPr>
              <a:t>확장</a:t>
            </a:r>
            <a:r>
              <a:rPr lang="en-US" sz="3811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811" b="true" i="false" u="none" strike="noStrike">
                <a:solidFill>
                  <a:srgbClr val="595959"/>
                </a:solidFill>
                <a:ea typeface="NanumGothic"/>
              </a:rPr>
              <a:t>가능성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21500" y="4394200"/>
            <a:ext cx="12331700" cy="533400"/>
          </a:xfrm>
          <a:prstGeom prst="rect">
            <a:avLst/>
          </a:prstGeom>
        </p:spPr>
        <p:txBody>
          <a:bodyPr anchor="ctr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AI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기반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안질환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분석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및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카카오톡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알림으로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빠른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진단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확인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가능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21500" y="6845300"/>
            <a:ext cx="12331700" cy="482600"/>
          </a:xfrm>
          <a:prstGeom prst="rect">
            <a:avLst/>
          </a:prstGeom>
        </p:spPr>
        <p:txBody>
          <a:bodyPr anchor="ctr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유기동물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·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병원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정보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·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모임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·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포스팅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등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주요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정보를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한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플랫폼에서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통합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제공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21500" y="9309100"/>
            <a:ext cx="12331700" cy="482600"/>
          </a:xfrm>
          <a:prstGeom prst="rect">
            <a:avLst/>
          </a:prstGeom>
        </p:spPr>
        <p:txBody>
          <a:bodyPr anchor="ctr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실시간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채팅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·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산책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모임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기능으로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자연스러운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교류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활성화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21500" y="11772900"/>
            <a:ext cx="12331700" cy="482600"/>
          </a:xfrm>
          <a:prstGeom prst="rect">
            <a:avLst/>
          </a:prstGeom>
        </p:spPr>
        <p:txBody>
          <a:bodyPr anchor="ctr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수집한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통계데이터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기반으로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서비스</a:t>
            </a:r>
            <a:r>
              <a:rPr lang="en-US" sz="303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033" b="false" i="false" u="none" strike="noStrike">
                <a:solidFill>
                  <a:srgbClr val="595959"/>
                </a:solidFill>
                <a:ea typeface="Pretendard Regular"/>
              </a:rPr>
              <a:t>고도화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16100" y="1943100"/>
            <a:ext cx="3111500" cy="10287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993900" y="1981200"/>
            <a:ext cx="2832100" cy="901700"/>
          </a:xfrm>
          <a:prstGeom prst="rect">
            <a:avLst/>
          </a:prstGeom>
        </p:spPr>
        <p:txBody>
          <a:bodyPr anchor="ctr" rtlCol="false" lIns="0" tIns="54185" rIns="0" bIns="54185"/>
          <a:lstStyle/>
          <a:p>
            <a:pPr algn="ctr" lvl="0">
              <a:lnSpc>
                <a:spcPct val="99600"/>
              </a:lnSpc>
            </a:pPr>
            <a:r>
              <a:rPr lang="en" sz="4266" b="true" i="false" u="none" strike="noStrike">
                <a:solidFill>
                  <a:srgbClr val="595959"/>
                </a:solidFill>
                <a:ea typeface="NanumGothic"/>
              </a:rPr>
              <a:t>기대효과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564100" y="1397000"/>
            <a:ext cx="4572000" cy="266700"/>
          </a:xfrm>
          <a:prstGeom prst="rect">
            <a:avLst/>
          </a:prstGeom>
        </p:spPr>
        <p:txBody>
          <a:bodyPr anchor="ctr" rtlCol="false"/>
          <a:lstStyle/>
          <a:p>
            <a:pPr algn="r" lvl="0">
              <a:lnSpc>
                <a:spcPct val="124499"/>
              </a:lnSpc>
            </a:pPr>
            <a:r>
              <a:rPr lang="en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My Pet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16100" y="1384300"/>
            <a:ext cx="6096000" cy="2794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2025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오픈소스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개발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프로젝트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 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7D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520700"/>
            <a:ext cx="23495000" cy="1268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378200" y="4114800"/>
            <a:ext cx="17145000" cy="208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78200" y="6642100"/>
            <a:ext cx="17145000" cy="2082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378200" y="9220200"/>
            <a:ext cx="17145000" cy="2082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543300" y="4584700"/>
            <a:ext cx="1739900" cy="9906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5604" b="true" i="false" u="none" strike="noStrike">
                <a:solidFill>
                  <a:srgbClr val="595959"/>
                </a:solidFill>
                <a:latin typeface="NanumGothic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43300" y="7035800"/>
            <a:ext cx="1739900" cy="1168400"/>
          </a:xfrm>
          <a:prstGeom prst="rect">
            <a:avLst/>
          </a:prstGeom>
        </p:spPr>
        <p:txBody>
          <a:bodyPr anchor="ctr" rtlCol="false" lIns="0" tIns="63417" rIns="0" bIns="63417"/>
          <a:lstStyle/>
          <a:p>
            <a:pPr algn="ctr" lvl="0">
              <a:lnSpc>
                <a:spcPct val="99600"/>
              </a:lnSpc>
            </a:pPr>
            <a:r>
              <a:rPr lang="en" sz="5604" b="true" i="false" u="none" strike="noStrike">
                <a:solidFill>
                  <a:srgbClr val="595959"/>
                </a:solidFill>
                <a:latin typeface="NanumGothic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73500" y="9601200"/>
            <a:ext cx="1079500" cy="1181100"/>
          </a:xfrm>
          <a:prstGeom prst="rect">
            <a:avLst/>
          </a:prstGeom>
        </p:spPr>
        <p:txBody>
          <a:bodyPr anchor="ctr" rtlCol="false" lIns="0" tIns="68233" rIns="0" bIns="68233"/>
          <a:lstStyle/>
          <a:p>
            <a:pPr algn="ctr" lvl="0">
              <a:lnSpc>
                <a:spcPct val="99600"/>
              </a:lnSpc>
            </a:pPr>
            <a:r>
              <a:rPr lang="en" sz="5604" b="true" i="false" u="none" strike="noStrike">
                <a:solidFill>
                  <a:srgbClr val="595959"/>
                </a:solidFill>
                <a:latin typeface="NanumGothic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38900" y="4381500"/>
            <a:ext cx="7924800" cy="838200"/>
          </a:xfrm>
          <a:prstGeom prst="rect">
            <a:avLst/>
          </a:prstGeom>
        </p:spPr>
        <p:txBody>
          <a:bodyPr anchor="ctr" rtlCol="false" lIns="0" tIns="48419" rIns="0" bIns="48419"/>
          <a:lstStyle/>
          <a:p>
            <a:pPr algn="l" lvl="0">
              <a:lnSpc>
                <a:spcPct val="99600"/>
              </a:lnSpc>
            </a:pPr>
            <a:r>
              <a:rPr lang="ko-KR" sz="3977" b="true" i="false" u="none" strike="noStrike">
                <a:solidFill>
                  <a:srgbClr val="595959"/>
                </a:solidFill>
                <a:ea typeface="NanumGothic"/>
              </a:rPr>
              <a:t>동물병원</a:t>
            </a:r>
            <a:r>
              <a:rPr lang="en-US" sz="3977" b="true" i="false" u="none" strike="noStrike">
                <a:solidFill>
                  <a:srgbClr val="595959"/>
                </a:solidFill>
                <a:latin typeface="NanumGothic"/>
              </a:rPr>
              <a:t>·</a:t>
            </a:r>
            <a:r>
              <a:rPr lang="ko-KR" sz="3977" b="true" i="false" u="none" strike="noStrike">
                <a:solidFill>
                  <a:srgbClr val="595959"/>
                </a:solidFill>
                <a:ea typeface="NanumGothic"/>
              </a:rPr>
              <a:t>지자체</a:t>
            </a:r>
            <a:r>
              <a:rPr lang="en-US" sz="3977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977" b="true" i="false" u="none" strike="noStrike">
                <a:solidFill>
                  <a:srgbClr val="595959"/>
                </a:solidFill>
                <a:ea typeface="NanumGothic"/>
              </a:rPr>
              <a:t>보호소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38900" y="6921500"/>
            <a:ext cx="7924800" cy="838200"/>
          </a:xfrm>
          <a:prstGeom prst="rect">
            <a:avLst/>
          </a:prstGeom>
        </p:spPr>
        <p:txBody>
          <a:bodyPr anchor="ctr" rtlCol="false" lIns="0" tIns="48419" rIns="0" bIns="48419"/>
          <a:lstStyle/>
          <a:p>
            <a:pPr algn="l" lvl="0">
              <a:lnSpc>
                <a:spcPct val="99600"/>
              </a:lnSpc>
            </a:pPr>
            <a:r>
              <a:rPr lang="ko-KR" sz="3977" b="true" i="false" u="none" strike="noStrike">
                <a:solidFill>
                  <a:srgbClr val="595959"/>
                </a:solidFill>
                <a:ea typeface="NanumGothic"/>
              </a:rPr>
              <a:t>반려동물</a:t>
            </a:r>
            <a:r>
              <a:rPr lang="en-US" sz="3977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977" b="true" i="false" u="none" strike="noStrike">
                <a:solidFill>
                  <a:srgbClr val="595959"/>
                </a:solidFill>
                <a:ea typeface="NanumGothic"/>
              </a:rPr>
              <a:t>관련</a:t>
            </a:r>
            <a:r>
              <a:rPr lang="en-US" sz="3977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977" b="true" i="false" u="none" strike="noStrike">
                <a:solidFill>
                  <a:srgbClr val="595959"/>
                </a:solidFill>
                <a:ea typeface="NanumGothic"/>
              </a:rPr>
              <a:t>스타트업</a:t>
            </a:r>
            <a:r>
              <a:rPr lang="en-US" sz="3977" b="true" i="false" u="none" strike="noStrike">
                <a:solidFill>
                  <a:srgbClr val="595959"/>
                </a:solidFill>
                <a:latin typeface="NanumGothic"/>
              </a:rPr>
              <a:t>·</a:t>
            </a:r>
            <a:r>
              <a:rPr lang="ko-KR" sz="3977" b="true" i="false" u="none" strike="noStrike">
                <a:solidFill>
                  <a:srgbClr val="595959"/>
                </a:solidFill>
                <a:ea typeface="NanumGothic"/>
              </a:rPr>
              <a:t>서비스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38900" y="9499600"/>
            <a:ext cx="7924800" cy="838200"/>
          </a:xfrm>
          <a:prstGeom prst="rect">
            <a:avLst/>
          </a:prstGeom>
        </p:spPr>
        <p:txBody>
          <a:bodyPr anchor="ctr" rtlCol="false" lIns="0" tIns="48419" rIns="0" bIns="48419"/>
          <a:lstStyle/>
          <a:p>
            <a:pPr algn="l" lvl="0">
              <a:lnSpc>
                <a:spcPct val="99600"/>
              </a:lnSpc>
            </a:pPr>
            <a:r>
              <a:rPr lang="ko-KR" sz="3977" b="true" i="false" u="none" strike="noStrike">
                <a:solidFill>
                  <a:srgbClr val="595959"/>
                </a:solidFill>
                <a:ea typeface="NanumGothic"/>
              </a:rPr>
              <a:t>데이터</a:t>
            </a:r>
            <a:r>
              <a:rPr lang="en-US" sz="3977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977" b="true" i="false" u="none" strike="noStrike">
                <a:solidFill>
                  <a:srgbClr val="595959"/>
                </a:solidFill>
                <a:ea typeface="NanumGothic"/>
              </a:rPr>
              <a:t>기반</a:t>
            </a:r>
            <a:r>
              <a:rPr lang="en-US" sz="3977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977" b="true" i="false" u="none" strike="noStrike">
                <a:solidFill>
                  <a:srgbClr val="595959"/>
                </a:solidFill>
                <a:ea typeface="NanumGothic"/>
              </a:rPr>
              <a:t>분석</a:t>
            </a:r>
            <a:r>
              <a:rPr lang="en-US" sz="3977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3977" b="true" i="false" u="none" strike="noStrike">
                <a:solidFill>
                  <a:srgbClr val="595959"/>
                </a:solidFill>
                <a:ea typeface="NanumGothic"/>
              </a:rPr>
              <a:t>분야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38900" y="5295900"/>
            <a:ext cx="13804900" cy="558800"/>
          </a:xfrm>
          <a:prstGeom prst="rect">
            <a:avLst/>
          </a:prstGeom>
        </p:spPr>
        <p:txBody>
          <a:bodyPr anchor="ctr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유기동물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홍보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도구로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활용하여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지역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단위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반려동물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복지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정책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수립에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참고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자료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제공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38900" y="7861300"/>
            <a:ext cx="12865100" cy="508000"/>
          </a:xfrm>
          <a:prstGeom prst="rect">
            <a:avLst/>
          </a:prstGeom>
        </p:spPr>
        <p:txBody>
          <a:bodyPr anchor="ctr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산책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모임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커뮤니티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,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진단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서비스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등과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연계해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서비스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확장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가능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38900" y="10439400"/>
            <a:ext cx="12865100" cy="508000"/>
          </a:xfrm>
          <a:prstGeom prst="rect">
            <a:avLst/>
          </a:prstGeom>
        </p:spPr>
        <p:txBody>
          <a:bodyPr anchor="ctr" rtlCol="false"/>
          <a:lstStyle/>
          <a:p>
            <a:pPr algn="l" lvl="1" indent="-342900" marL="34290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사용자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행동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데이터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·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병원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방문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데이터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등을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활용한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통계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·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개선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지표로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사용</a:t>
            </a:r>
            <a:r>
              <a:rPr lang="en-US" sz="3164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164" b="false" i="false" u="none" strike="noStrike">
                <a:solidFill>
                  <a:srgbClr val="595959"/>
                </a:solidFill>
                <a:ea typeface="Pretendard Regular"/>
              </a:rPr>
              <a:t>가능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16100" y="1943100"/>
            <a:ext cx="3111500" cy="1028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993900" y="1981200"/>
            <a:ext cx="2832100" cy="901700"/>
          </a:xfrm>
          <a:prstGeom prst="rect">
            <a:avLst/>
          </a:prstGeom>
        </p:spPr>
        <p:txBody>
          <a:bodyPr anchor="ctr" rtlCol="false" lIns="0" tIns="54185" rIns="0" bIns="54185"/>
          <a:lstStyle/>
          <a:p>
            <a:pPr algn="ctr" lvl="0">
              <a:lnSpc>
                <a:spcPct val="99600"/>
              </a:lnSpc>
            </a:pP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활용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분야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564100" y="1397000"/>
            <a:ext cx="4572000" cy="266700"/>
          </a:xfrm>
          <a:prstGeom prst="rect">
            <a:avLst/>
          </a:prstGeom>
        </p:spPr>
        <p:txBody>
          <a:bodyPr anchor="ctr" rtlCol="false"/>
          <a:lstStyle/>
          <a:p>
            <a:pPr algn="r" lvl="0">
              <a:lnSpc>
                <a:spcPct val="124499"/>
              </a:lnSpc>
            </a:pPr>
            <a:r>
              <a:rPr lang="en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My Pet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16100" y="1384300"/>
            <a:ext cx="6096000" cy="2794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2025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오픈소스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개발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프로젝트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 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7D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520700"/>
            <a:ext cx="23495000" cy="12687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632200" y="3238500"/>
            <a:ext cx="16700500" cy="8763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7912100" y="3416300"/>
            <a:ext cx="8140700" cy="901700"/>
          </a:xfrm>
          <a:prstGeom prst="rect">
            <a:avLst/>
          </a:prstGeom>
        </p:spPr>
        <p:txBody>
          <a:bodyPr anchor="ctr" rtlCol="false" lIns="0" tIns="54186" rIns="0" bIns="54186"/>
          <a:lstStyle/>
          <a:p>
            <a:pPr algn="ctr" lvl="0">
              <a:lnSpc>
                <a:spcPct val="99600"/>
              </a:lnSpc>
            </a:pPr>
            <a:r>
              <a:rPr lang="en" sz="4266" b="true" i="false" u="none" strike="noStrike">
                <a:solidFill>
                  <a:srgbClr val="595959"/>
                </a:solidFill>
                <a:latin typeface="NanumGothic"/>
              </a:rPr>
              <a:t>Future Plan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16100" y="1943100"/>
            <a:ext cx="4635500" cy="1028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171700" y="1981200"/>
            <a:ext cx="3924300" cy="901700"/>
          </a:xfrm>
          <a:prstGeom prst="rect">
            <a:avLst/>
          </a:prstGeom>
        </p:spPr>
        <p:txBody>
          <a:bodyPr anchor="ctr" rtlCol="false" lIns="0" tIns="54185" rIns="0" bIns="54185"/>
          <a:lstStyle/>
          <a:p>
            <a:pPr algn="ctr" lvl="0">
              <a:lnSpc>
                <a:spcPct val="99600"/>
              </a:lnSpc>
            </a:pP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향후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추진</a:t>
            </a:r>
            <a:r>
              <a:rPr lang="en-US" sz="4266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266" b="true" i="false" u="none" strike="noStrike">
                <a:solidFill>
                  <a:srgbClr val="595959"/>
                </a:solidFill>
                <a:ea typeface="NanumGothic"/>
              </a:rPr>
              <a:t>계획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70400" y="5080000"/>
            <a:ext cx="4152900" cy="7620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4362" b="true" i="false" u="none" strike="noStrike">
                <a:solidFill>
                  <a:srgbClr val="595959"/>
                </a:solidFill>
                <a:ea typeface="NanumGothic"/>
              </a:rPr>
              <a:t>정식</a:t>
            </a:r>
            <a:r>
              <a:rPr lang="en-US" sz="4362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362" b="true" i="false" u="none" strike="noStrike">
                <a:solidFill>
                  <a:srgbClr val="595959"/>
                </a:solidFill>
                <a:ea typeface="NanumGothic"/>
              </a:rPr>
              <a:t>배포</a:t>
            </a:r>
            <a:r>
              <a:rPr lang="en-US" sz="4362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362" b="true" i="false" u="none" strike="noStrike">
                <a:solidFill>
                  <a:srgbClr val="595959"/>
                </a:solidFill>
                <a:ea typeface="NanumGothic"/>
              </a:rPr>
              <a:t>준비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70400" y="9436100"/>
            <a:ext cx="6972300" cy="7620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4362" b="true" i="false" u="none" strike="noStrike">
                <a:solidFill>
                  <a:srgbClr val="595959"/>
                </a:solidFill>
                <a:latin typeface="NanumGothic"/>
              </a:rPr>
              <a:t>UI·UX </a:t>
            </a:r>
            <a:r>
              <a:rPr lang="ko-KR" sz="4362" b="true" i="false" u="none" strike="noStrike">
                <a:solidFill>
                  <a:srgbClr val="595959"/>
                </a:solidFill>
                <a:ea typeface="NanumGothic"/>
              </a:rPr>
              <a:t>개선</a:t>
            </a:r>
            <a:r>
              <a:rPr lang="en-US" sz="4362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362" b="true" i="false" u="none" strike="noStrike">
                <a:solidFill>
                  <a:srgbClr val="595959"/>
                </a:solidFill>
                <a:ea typeface="NanumGothic"/>
              </a:rPr>
              <a:t>및</a:t>
            </a:r>
            <a:r>
              <a:rPr lang="en-US" sz="4362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362" b="true" i="false" u="none" strike="noStrike">
                <a:solidFill>
                  <a:srgbClr val="595959"/>
                </a:solidFill>
                <a:ea typeface="NanumGothic"/>
              </a:rPr>
              <a:t>모바일</a:t>
            </a:r>
            <a:r>
              <a:rPr lang="en-US" sz="4362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362" b="true" i="false" u="none" strike="noStrike">
                <a:solidFill>
                  <a:srgbClr val="595959"/>
                </a:solidFill>
                <a:ea typeface="NanumGothic"/>
              </a:rPr>
              <a:t>대응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70400" y="7289800"/>
            <a:ext cx="4165600" cy="762000"/>
          </a:xfrm>
          <a:prstGeom prst="rect">
            <a:avLst/>
          </a:prstGeom>
        </p:spPr>
        <p:txBody>
          <a:bodyPr anchor="t" rtlCol="false"/>
          <a:lstStyle/>
          <a:p>
            <a:pPr algn="l" lvl="1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4362" b="true" i="false" u="none" strike="noStrike">
                <a:solidFill>
                  <a:srgbClr val="595959"/>
                </a:solidFill>
                <a:latin typeface="NanumGothic"/>
              </a:rPr>
              <a:t>AI </a:t>
            </a:r>
            <a:r>
              <a:rPr lang="ko-KR" sz="4362" b="true" i="false" u="none" strike="noStrike">
                <a:solidFill>
                  <a:srgbClr val="595959"/>
                </a:solidFill>
                <a:ea typeface="NanumGothic"/>
              </a:rPr>
              <a:t>모델</a:t>
            </a:r>
            <a:r>
              <a:rPr lang="en-US" sz="4362" b="true" i="false" u="none" strike="noStrike">
                <a:solidFill>
                  <a:srgbClr val="595959"/>
                </a:solidFill>
                <a:latin typeface="NanumGothic"/>
              </a:rPr>
              <a:t> </a:t>
            </a:r>
            <a:r>
              <a:rPr lang="ko-KR" sz="4362" b="true" i="false" u="none" strike="noStrike">
                <a:solidFill>
                  <a:srgbClr val="595959"/>
                </a:solidFill>
                <a:ea typeface="NanumGothic"/>
              </a:rPr>
              <a:t>고도화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67300" y="6096000"/>
            <a:ext cx="13716000" cy="5207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도메인</a:t>
            </a:r>
            <a:r>
              <a:rPr lang="en-US" sz="328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등록</a:t>
            </a:r>
            <a:r>
              <a:rPr lang="en-US" sz="328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및</a:t>
            </a:r>
            <a:r>
              <a:rPr lang="en-US" sz="328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외부</a:t>
            </a:r>
            <a:r>
              <a:rPr lang="en-US" sz="3283" b="false" i="false" u="none" strike="noStrike">
                <a:solidFill>
                  <a:srgbClr val="595959"/>
                </a:solidFill>
                <a:latin typeface="Pretendard Regular"/>
              </a:rPr>
              <a:t> API(</a:t>
            </a: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카카오</a:t>
            </a:r>
            <a:r>
              <a:rPr lang="en-US" sz="328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지도</a:t>
            </a:r>
            <a:r>
              <a:rPr lang="en-US" sz="3283" b="false" i="false" u="none" strike="noStrike">
                <a:solidFill>
                  <a:srgbClr val="595959"/>
                </a:solidFill>
                <a:latin typeface="Pretendard Regular"/>
              </a:rPr>
              <a:t>·</a:t>
            </a: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로그인</a:t>
            </a:r>
            <a:r>
              <a:rPr lang="en-US" sz="3283" b="false" i="false" u="none" strike="noStrike">
                <a:solidFill>
                  <a:srgbClr val="595959"/>
                </a:solidFill>
                <a:latin typeface="Pretendard Regular"/>
              </a:rPr>
              <a:t>·</a:t>
            </a: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메시지</a:t>
            </a:r>
            <a:r>
              <a:rPr lang="en-US" sz="3283" b="false" i="false" u="none" strike="noStrike">
                <a:solidFill>
                  <a:srgbClr val="595959"/>
                </a:solidFill>
                <a:latin typeface="Pretendard Regular"/>
              </a:rPr>
              <a:t>) </a:t>
            </a: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승인</a:t>
            </a:r>
            <a:r>
              <a:rPr lang="en-US" sz="328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절차</a:t>
            </a:r>
            <a:r>
              <a:rPr lang="en-US" sz="328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진행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67300" y="8318500"/>
            <a:ext cx="13716000" cy="5207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안질환</a:t>
            </a:r>
            <a:r>
              <a:rPr lang="en-US" sz="328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분석</a:t>
            </a:r>
            <a:r>
              <a:rPr lang="en-US" sz="328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정확도</a:t>
            </a:r>
            <a:r>
              <a:rPr lang="en-US" sz="328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개선</a:t>
            </a:r>
            <a:r>
              <a:rPr lang="en-US" sz="328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및</a:t>
            </a:r>
            <a:r>
              <a:rPr lang="en-US" sz="328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다양한</a:t>
            </a:r>
            <a:r>
              <a:rPr lang="en-US" sz="328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질환</a:t>
            </a:r>
            <a:r>
              <a:rPr lang="en-US" sz="328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범위로</a:t>
            </a:r>
            <a:r>
              <a:rPr lang="en-US" sz="328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확장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67300" y="10464800"/>
            <a:ext cx="13716000" cy="5207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en-US" sz="3283" b="false" i="false" u="none" strike="noStrike">
                <a:solidFill>
                  <a:srgbClr val="595959"/>
                </a:solidFill>
                <a:latin typeface="Pretendard Regular"/>
              </a:rPr>
              <a:t>UI </a:t>
            </a: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보완</a:t>
            </a:r>
            <a:r>
              <a:rPr lang="en-US" sz="328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및</a:t>
            </a:r>
            <a:r>
              <a:rPr lang="en-US" sz="328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반응형</a:t>
            </a:r>
            <a:r>
              <a:rPr lang="en-US" sz="328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구조</a:t>
            </a:r>
            <a:r>
              <a:rPr lang="en-US" sz="3283" b="false" i="false" u="none" strike="noStrike">
                <a:solidFill>
                  <a:srgbClr val="595959"/>
                </a:solidFill>
                <a:latin typeface="Pretendard Regular"/>
              </a:rPr>
              <a:t> </a:t>
            </a:r>
            <a:r>
              <a:rPr lang="ko-KR" sz="3283" b="false" i="false" u="none" strike="noStrike">
                <a:solidFill>
                  <a:srgbClr val="595959"/>
                </a:solidFill>
                <a:ea typeface="Pretendard Regular"/>
              </a:rPr>
              <a:t>강화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770100" y="7010400"/>
            <a:ext cx="4229100" cy="4229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1036856">
            <a:off x="17792700" y="9652000"/>
            <a:ext cx="1739900" cy="17399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7564100" y="1397000"/>
            <a:ext cx="4572000" cy="266700"/>
          </a:xfrm>
          <a:prstGeom prst="rect">
            <a:avLst/>
          </a:prstGeom>
        </p:spPr>
        <p:txBody>
          <a:bodyPr anchor="ctr" rtlCol="false"/>
          <a:lstStyle/>
          <a:p>
            <a:pPr algn="r" lvl="0">
              <a:lnSpc>
                <a:spcPct val="124499"/>
              </a:lnSpc>
            </a:pPr>
            <a:r>
              <a:rPr lang="en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My Pet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16100" y="1384300"/>
            <a:ext cx="6096000" cy="2794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2025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오픈소스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개발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프로젝트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 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7D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2600" y="520700"/>
            <a:ext cx="23495000" cy="126873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003800" y="5156200"/>
            <a:ext cx="14452600" cy="2120900"/>
          </a:xfrm>
          <a:prstGeom prst="rect">
            <a:avLst/>
          </a:prstGeom>
        </p:spPr>
        <p:txBody>
          <a:bodyPr anchor="ctr" rtlCol="false" lIns="0" tIns="27114" rIns="0" bIns="27114"/>
          <a:lstStyle/>
          <a:p>
            <a:pPr algn="ctr" lvl="0">
              <a:lnSpc>
                <a:spcPct val="112050"/>
              </a:lnSpc>
            </a:pPr>
            <a:r>
              <a:rPr lang="en" sz="11394" b="true" i="false" u="none" strike="noStrike">
                <a:solidFill>
                  <a:srgbClr val="595959"/>
                </a:solidFill>
                <a:latin typeface="NanumGothic"/>
              </a:rPr>
              <a:t>THANK YOU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03400" y="10769600"/>
            <a:ext cx="20345400" cy="14732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9779000" y="11303000"/>
            <a:ext cx="11760200" cy="469900"/>
          </a:xfrm>
          <a:prstGeom prst="rect">
            <a:avLst/>
          </a:prstGeom>
        </p:spPr>
        <p:txBody>
          <a:bodyPr anchor="ctr" rtlCol="false" lIns="0" tIns="15239" rIns="0" bIns="15239"/>
          <a:lstStyle/>
          <a:p>
            <a:pPr algn="r" lvl="0">
              <a:lnSpc>
                <a:spcPct val="107899"/>
              </a:lnSpc>
            </a:pPr>
            <a:r>
              <a:rPr lang="en" sz="2399" b="false" i="false" u="none" strike="noStrike">
                <a:solidFill>
                  <a:srgbClr val="595959"/>
                </a:solidFill>
                <a:latin typeface="Pretendard Regular"/>
              </a:rPr>
              <a:t>2025.12.15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54300" y="11252200"/>
            <a:ext cx="5867400" cy="520700"/>
          </a:xfrm>
          <a:prstGeom prst="rect">
            <a:avLst/>
          </a:prstGeom>
        </p:spPr>
        <p:txBody>
          <a:bodyPr anchor="ctr" rtlCol="false" lIns="0" tIns="37253" rIns="0" bIns="37253"/>
          <a:lstStyle/>
          <a:p>
            <a:pPr algn="l" lvl="0">
              <a:lnSpc>
                <a:spcPct val="99600"/>
              </a:lnSpc>
            </a:pPr>
            <a:r>
              <a:rPr lang="en-US" sz="2933" b="true" i="false" u="none" strike="noStrike">
                <a:solidFill>
                  <a:srgbClr val="595959"/>
                </a:solidFill>
                <a:latin typeface="NanumGothic"/>
              </a:rPr>
              <a:t>2</a:t>
            </a:r>
            <a:r>
              <a:rPr lang="ko-KR" sz="2933" b="true" i="false" u="none" strike="noStrike">
                <a:solidFill>
                  <a:srgbClr val="595959"/>
                </a:solidFill>
                <a:ea typeface="NanumGothic"/>
              </a:rPr>
              <a:t>조</a:t>
            </a:r>
            <a:r>
              <a:rPr lang="en-US" sz="2933" b="true" i="false" u="none" strike="noStrike">
                <a:solidFill>
                  <a:srgbClr val="595959"/>
                </a:solidFill>
                <a:latin typeface="NanumGothic"/>
              </a:rPr>
              <a:t> Mypet </a:t>
            </a:r>
            <a:r>
              <a:rPr lang="ko-KR" sz="2933" b="true" i="false" u="none" strike="noStrike">
                <a:solidFill>
                  <a:srgbClr val="595959"/>
                </a:solidFill>
                <a:ea typeface="NanumGothic"/>
              </a:rPr>
              <a:t>이충희</a:t>
            </a:r>
            <a:r>
              <a:rPr lang="en-US" sz="2933" b="true" i="false" u="none" strike="noStrike">
                <a:solidFill>
                  <a:srgbClr val="595959"/>
                </a:solidFill>
                <a:latin typeface="NanumGothic"/>
              </a:rPr>
              <a:t>, </a:t>
            </a:r>
            <a:r>
              <a:rPr lang="ko-KR" sz="2933" b="true" i="false" u="none" strike="noStrike">
                <a:solidFill>
                  <a:srgbClr val="595959"/>
                </a:solidFill>
                <a:ea typeface="NanumGothic"/>
              </a:rPr>
              <a:t>손승혜</a:t>
            </a:r>
            <a:r>
              <a:rPr lang="en-US" sz="2933" b="true" i="false" u="none" strike="noStrike">
                <a:solidFill>
                  <a:srgbClr val="595959"/>
                </a:solidFill>
                <a:latin typeface="NanumGothic"/>
              </a:rPr>
              <a:t>, </a:t>
            </a:r>
            <a:r>
              <a:rPr lang="ko-KR" sz="2933" b="true" i="false" u="none" strike="noStrike">
                <a:solidFill>
                  <a:srgbClr val="595959"/>
                </a:solidFill>
                <a:ea typeface="NanumGothic"/>
              </a:rPr>
              <a:t>김기은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564100" y="1397000"/>
            <a:ext cx="4572000" cy="266700"/>
          </a:xfrm>
          <a:prstGeom prst="rect">
            <a:avLst/>
          </a:prstGeom>
        </p:spPr>
        <p:txBody>
          <a:bodyPr anchor="ctr" rtlCol="false"/>
          <a:lstStyle/>
          <a:p>
            <a:pPr algn="r" lvl="0">
              <a:lnSpc>
                <a:spcPct val="124499"/>
              </a:lnSpc>
            </a:pPr>
            <a:r>
              <a:rPr lang="en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My Pet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16100" y="1384300"/>
            <a:ext cx="6096000" cy="2794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4499"/>
              </a:lnSpc>
            </a:pP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2025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오픈소스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개발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733" b="false" i="false" u="none" strike="noStrike">
                <a:solidFill>
                  <a:srgbClr val="737373">
                    <a:alpha val="80000"/>
                  </a:srgbClr>
                </a:solidFill>
                <a:ea typeface="Pretendard Regular"/>
              </a:rPr>
              <a:t>프로젝트</a:t>
            </a:r>
            <a:r>
              <a:rPr lang="en-US" sz="1733" b="false" i="false" u="none" strike="noStrike">
                <a:solidFill>
                  <a:srgbClr val="737373">
                    <a:alpha val="80000"/>
                  </a:srgbClr>
                </a:solidFill>
                <a:latin typeface="Pretendard Regular"/>
              </a:rPr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